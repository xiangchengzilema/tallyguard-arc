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7498e11d3743b7" /><Relationship Type="http://schemas.openxmlformats.org/officeDocument/2006/relationships/extended-properties" Target="/docProps/app.xml" Id="Ra00bae99861a4e27" /><Relationship Type="http://schemas.openxmlformats.org/officeDocument/2006/relationships/officeDocument" Target="/ppt/presentation.xml" Id="Re50a3604c4c64c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acef2ae63d4395"/>
  </p:sldMasterIdLst>
  <p:notesMasterIdLst>
    <p:notesMasterId xmlns:r="http://schemas.openxmlformats.org/officeDocument/2006/relationships" r:id="R79aaa13c472d4885"/>
  </p:notesMasterIdLst>
  <p:sldIdLst>
    <p:sldId xmlns:r="http://schemas.openxmlformats.org/officeDocument/2006/relationships" id="256" r:id="R1e35545801094fbe"/>
    <p:sldId xmlns:r="http://schemas.openxmlformats.org/officeDocument/2006/relationships" id="257" r:id="Rf377faaa5bd447c2"/>
    <p:sldId xmlns:r="http://schemas.openxmlformats.org/officeDocument/2006/relationships" id="258" r:id="R089150347002432a"/>
    <p:sldId xmlns:r="http://schemas.openxmlformats.org/officeDocument/2006/relationships" id="259" r:id="R8380b7e94b144069"/>
    <p:sldId xmlns:r="http://schemas.openxmlformats.org/officeDocument/2006/relationships" id="260" r:id="Rb0309fb735c74ecf"/>
    <p:sldId xmlns:r="http://schemas.openxmlformats.org/officeDocument/2006/relationships" id="261" r:id="R1e7863b098c94ed0"/>
    <p:sldId xmlns:r="http://schemas.openxmlformats.org/officeDocument/2006/relationships" id="262" r:id="R5c08f1a9d0724db0"/>
    <p:sldId xmlns:r="http://schemas.openxmlformats.org/officeDocument/2006/relationships" id="263" r:id="R6427c9efd84642a9"/>
    <p:sldId xmlns:r="http://schemas.openxmlformats.org/officeDocument/2006/relationships" id="264" r:id="R7b0bccbc857446ce"/>
    <p:sldId xmlns:r="http://schemas.openxmlformats.org/officeDocument/2006/relationships" id="265" r:id="R14b8157932ab4b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2da03c445146eb" /><Relationship Type="http://schemas.openxmlformats.org/officeDocument/2006/relationships/slideMaster" Target="/ppt/slideMasters/slideMaster1.xml" Id="Rf6acef2ae63d4395" /><Relationship Type="http://schemas.openxmlformats.org/officeDocument/2006/relationships/notesMaster" Target="/ppt/notesMasters/notesMaster1.xml" Id="R79aaa13c472d4885" /><Relationship Type="http://schemas.openxmlformats.org/officeDocument/2006/relationships/presProps" Target="/ppt/presProps.xml" Id="Rc3345969688d4424" /><Relationship Type="http://schemas.openxmlformats.org/officeDocument/2006/relationships/tableStyles" Target="/ppt/tableStyles.xml" Id="Rea044122711948c9" /><Relationship Type="http://schemas.openxmlformats.org/officeDocument/2006/relationships/slide" Target="/ppt/slides/slide1.xml" Id="R1e35545801094fbe" /><Relationship Type="http://schemas.openxmlformats.org/officeDocument/2006/relationships/slide" Target="/ppt/slides/slide2.xml" Id="Rf377faaa5bd447c2" /><Relationship Type="http://schemas.openxmlformats.org/officeDocument/2006/relationships/slide" Target="/ppt/slides/slide3.xml" Id="R089150347002432a" /><Relationship Type="http://schemas.openxmlformats.org/officeDocument/2006/relationships/slide" Target="/ppt/slides/slide4.xml" Id="R8380b7e94b144069" /><Relationship Type="http://schemas.openxmlformats.org/officeDocument/2006/relationships/slide" Target="/ppt/slides/slide5.xml" Id="Rb0309fb735c74ecf" /><Relationship Type="http://schemas.openxmlformats.org/officeDocument/2006/relationships/slide" Target="/ppt/slides/slide6.xml" Id="R1e7863b098c94ed0" /><Relationship Type="http://schemas.openxmlformats.org/officeDocument/2006/relationships/slide" Target="/ppt/slides/slide7.xml" Id="R5c08f1a9d0724db0" /><Relationship Type="http://schemas.openxmlformats.org/officeDocument/2006/relationships/slide" Target="/ppt/slides/slide8.xml" Id="R6427c9efd84642a9" /><Relationship Type="http://schemas.openxmlformats.org/officeDocument/2006/relationships/slide" Target="/ppt/slides/slide9.xml" Id="R7b0bccbc857446ce" /><Relationship Type="http://schemas.openxmlformats.org/officeDocument/2006/relationships/slide" Target="/ppt/slides/slide10.xml" Id="R14b8157932ab4b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56cf446bfa4a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8c1f23326e4cf0" /><Relationship Type="http://schemas.openxmlformats.org/officeDocument/2006/relationships/notesMaster" Target="/ppt/notesMasters/notesMaster1.xml" Id="R7c7d05a25d4a43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f9a859b22e4966" /><Relationship Type="http://schemas.openxmlformats.org/officeDocument/2006/relationships/notesMaster" Target="/ppt/notesMasters/notesMaster1.xml" Id="Rf07a83775df444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e63fd625ac447e" /><Relationship Type="http://schemas.openxmlformats.org/officeDocument/2006/relationships/notesMaster" Target="/ppt/notesMasters/notesMaster1.xml" Id="Ra1b5f654a7c040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5779b0f8354434" /><Relationship Type="http://schemas.openxmlformats.org/officeDocument/2006/relationships/notesMaster" Target="/ppt/notesMasters/notesMaster1.xml" Id="Rc90a55f2dad94b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d3ff5ddc5042d9" /><Relationship Type="http://schemas.openxmlformats.org/officeDocument/2006/relationships/notesMaster" Target="/ppt/notesMasters/notesMaster1.xml" Id="Rf3b9107499784b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0f2e4c41f7430a" /><Relationship Type="http://schemas.openxmlformats.org/officeDocument/2006/relationships/notesMaster" Target="/ppt/notesMasters/notesMaster1.xml" Id="R937a7c695d1f47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82467331494b08" /><Relationship Type="http://schemas.openxmlformats.org/officeDocument/2006/relationships/notesMaster" Target="/ppt/notesMasters/notesMaster1.xml" Id="R6f6f53eb112948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94593252294ab4" /><Relationship Type="http://schemas.openxmlformats.org/officeDocument/2006/relationships/notesMaster" Target="/ppt/notesMasters/notesMaster1.xml" Id="R0377618b826a44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7f9af9374b44bd" /><Relationship Type="http://schemas.openxmlformats.org/officeDocument/2006/relationships/notesMaster" Target="/ppt/notesMasters/notesMaster1.xml" Id="Rf5312462deb04a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875d8568e04da7" /><Relationship Type="http://schemas.openxmlformats.org/officeDocument/2006/relationships/notesMaster" Target="/ppt/notesMasters/notesMaster1.xml" Id="Rf7b26ef44b9d46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screenshot: local TallyGuard judge workspace. Project sources: docs/HACKATHON_CONTEXT.md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derived from docs/SECURITY_MODEL.md and docs/BACKEND_PRODUCT_SPEC.md. No market-size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docs/ARCHITECTURE.md. Settlement source: docs/CIRCLE_ARC_SETTLEMENT.md.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product. Supporting implementation: src/tallyguard/decisions.py, src/tallyguard/policies.py, src/tallyguard/evidence.py.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product. Implementation: src/tallyguard/autonomy.py and src/tallyguard/persistence.py. The execution lease prevents multiple workers from executing the same durable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semantics are implemented in src/tallyguard/models.py, src/tallyguard/policy.py, and src/tallyguard/autonomy.py.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src/tallyguard/circle_arc.py and src/tallyguard/settlement.py. Technical reference: docs/CIRCLE_ARC_SETTLEMENT.md. The slide intentionally labels the real Testnet transfer as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docs/reports/load-test-10000.json and docs/reports/agent-run-load-50.json. These are synthetic engineering tests, not customer traction. Settlement used the deterministic Arc simulator and moved no funds.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honest traction plan for the current build. Synthetic reliability data remains separately labeled. Deadline source: docs/HACKATHON_CONTEXT.md.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Event information: https://tameion.thecanteenapp.com/ and docs/HACKATHON_CONTEXT.md. GitHub and live-demo links should be added only after the user approves publication and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a50332acf42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47d54028484140" /><Relationship Type="http://schemas.openxmlformats.org/officeDocument/2006/relationships/slideLayout" Target="/ppt/slideLayouts/slideLayout1.xml" Id="R397933ee1f2240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7933ee1f2240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d1b64d84e430a" /><Relationship Type="http://schemas.openxmlformats.org/officeDocument/2006/relationships/image" Target="/ppt/media/image.png" Id="R273c8d0dc08a449f" /><Relationship Type="http://schemas.openxmlformats.org/officeDocument/2006/relationships/notesSlide" Target="/ppt/notesSlides/notesSlide1.xml" Id="R122dec5cc5bb48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a0e965bf84731" /><Relationship Type="http://schemas.openxmlformats.org/officeDocument/2006/relationships/notesSlide" Target="/ppt/notesSlides/notesSlide2.xml" Id="R736cc17de60341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8f89ac0864b32" /><Relationship Type="http://schemas.openxmlformats.org/officeDocument/2006/relationships/notesSlide" Target="/ppt/notesSlides/notesSlide3.xml" Id="R9c6b3b4fb22c48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a1ab1d1b24add" /><Relationship Type="http://schemas.openxmlformats.org/officeDocument/2006/relationships/image" Target="/ppt/media/image2.png" Id="R80ac01a26a8b4533" /><Relationship Type="http://schemas.openxmlformats.org/officeDocument/2006/relationships/notesSlide" Target="/ppt/notesSlides/notesSlide4.xml" Id="Rb7ff941d1b8041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3b216d7834694" /><Relationship Type="http://schemas.openxmlformats.org/officeDocument/2006/relationships/image" Target="/ppt/media/image3.png" Id="R449a310d4dde4e85" /><Relationship Type="http://schemas.openxmlformats.org/officeDocument/2006/relationships/notesSlide" Target="/ppt/notesSlides/notesSlide5.xml" Id="R4bb5f4e14cb349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af7b7d9f549da" /><Relationship Type="http://schemas.openxmlformats.org/officeDocument/2006/relationships/notesSlide" Target="/ppt/notesSlides/notesSlide6.xml" Id="R7962a9ae959644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1b71053f846d7" /><Relationship Type="http://schemas.openxmlformats.org/officeDocument/2006/relationships/notesSlide" Target="/ppt/notesSlides/notesSlide7.xml" Id="Rc1236b8710064c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af43c58f64c9f" /><Relationship Type="http://schemas.openxmlformats.org/officeDocument/2006/relationships/image" Target="/ppt/media/image4.png" Id="Re6099d4120c64412" /><Relationship Type="http://schemas.openxmlformats.org/officeDocument/2006/relationships/notesSlide" Target="/ppt/notesSlides/notesSlide8.xml" Id="Re3b7e1274bdc41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96aaec2c844b9" /><Relationship Type="http://schemas.openxmlformats.org/officeDocument/2006/relationships/notesSlide" Target="/ppt/notesSlides/notesSlide9.xml" Id="R3849a09652df4a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1807bce9e442b" /><Relationship Type="http://schemas.openxmlformats.org/officeDocument/2006/relationships/notesSlide" Target="/ppt/notesSlides/notesSlide10.xml" Id="Rfacc968596554e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07C04-2109-42F0-9F78-DABC1208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TALLYGUARD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43B73-A68B-45FC-9FD4-E36218F4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 before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6F6D7-6960-4798-BCAD-F4A485A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Evidence-bound autonomous accounts payable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for AI-operated businesses on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5CFC6-5732-4354-9F58-96F20D22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2781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PRIMARY RFB  ·  AP / AR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F88EE-848A-4B51-9015-B0BE746C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86250"/>
            <a:ext cx="2038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58E0D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COMPLIANCE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094FF-2C5A-439F-886C-FA6A4D83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EA09D"/>
                </a:solidFill>
                <a:latin typeface="Arial"/>
                <a:ea typeface="Arial"/>
                <a:cs typeface="Arial"/>
              </a:rPr>
              <a:t>Canteen × Circle × Arc  /  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25CC0-FF20-454B-A00D-D183A0AE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66750"/>
            <a:ext cx="5619750" cy="5467350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3423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c8d0dc08a449f"/>
          <a:stretch xmlns:a="http://schemas.openxmlformats.org/drawingml/2006/main"/>
        </p:blipFill>
        <p:spPr>
          <a:xfrm xmlns:a="http://schemas.openxmlformats.org/drawingml/2006/main">
            <a:off x="6191250" y="1118394"/>
            <a:ext cx="5200650" cy="36115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0C232-2E07-4622-AC8A-C9AB89CD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435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C5F90-0072-4D3D-9C2F-EA0045B9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53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DETERMINISTIC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7F2F2-C56A-494F-9A5C-6D778CAB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197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explains. Policy authorizes. Arc proves.</a:t>
            </a:r>
          </a:p>
        </p:txBody>
      </p:sp>
    </p:spTree>
    <p:extLst>
      <p:ext uri="{BB962C8B-B14F-4D97-AF65-F5344CB8AC3E}">
        <p14:creationId xmlns:p14="http://schemas.microsoft.com/office/powerpoint/2010/main" val="1174345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B0E14-F26D-4792-A989-A52350B9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THE CONTROL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D9B63-57EE-45E8-8C8A-78C7E0FE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Agents can move faster than finance can verify.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2658D-87F4-4F42-A454-84C8F878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Accounts payable needs machine speed without surrendering financial authority.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18CEF-D613-44B3-8E70-1C745702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6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11B2C-7374-49D4-B66D-5370CB77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56C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6C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AAEC0-FF07-481C-822D-C2CC31A4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UNTRUSTED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60732-1D8D-409F-AA5A-8666C91D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Invoices, emails, PDFs, prompts, and wallet-change requests can all carry conflicting or manipulated instructions.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0A0CA-7B5C-4E03-8079-E736EE45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CFB68-5B81-4E25-9E75-FE4E103E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2C1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69D0A-A891-4263-8A70-1EA33D63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AMBIGUOUS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E389B-8F1F-4647-ACD3-841D939D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model recommendation is useful context, but it cannot decide whether company funds are legally or operationally authorized.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71128-33B4-4F7E-B1DF-5B862846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D5EF4-E15E-4F25-B34B-65DA3801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A98B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98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70434-50D1-4D72-B400-C69F0AB0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WEAK SETTLEMENT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C2034-4CA3-4FB7-97A6-E940DAB1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provider status alone does not prove the exact USDC transfer landed on the intended Arc network and recipient.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96542-ED8A-403B-AE20-12B41EF8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2C665-4990-465A-A003-2AEB4BE5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missing primitive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62672-8029-4C8C-9936-3D38B444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verifiable decision boundary between evidence and money movement.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387D3-D2D3-418A-894E-8BBC0ADB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B6AF6-2C8A-4172-9524-F75E0138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705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8A1688-4F6E-4DD6-B179-34ADF75A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ONE BOUNDED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3CF3A-73A6-43CD-AA98-56091F22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source evidence to independently verified settlement.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DF35F-56DD-4D05-9243-34D95ED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Every step produces an immutable record. Every fund-moving action is revalidated.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7106D-54A8-476F-99BF-41BEC8A5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90E8A-1753-421B-9B8C-BA398AF3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C1C82-B4D1-4F33-9FE6-36004772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89A4C-BA8C-430D-9946-06A5ADD8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PDF, image, or 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with field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15358-D276-4D1B-991F-50C92EA4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F5500-9C79-44BA-83CD-36A46EAD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CB516-DE86-4018-BCD3-C52B53EB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CF998-45AC-49AC-9E41-AC12DCDF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12 deterministic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financial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9437C-F15C-40C4-BFC5-0BB438CE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7C5F9-1E81-4751-99A3-5FC55B57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B86C5-22CD-4EC2-AF4F-A39DE3A7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DE0E5-08B1-4F55-85CE-ADF06665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PAY, schedule, hold,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reject, or escalate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FE0A6-A080-4FEC-A920-37B7B0C1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04CD6-2B0E-49E1-991B-658F5C1B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0FDAB-6EA1-499C-82CB-129E4540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USDC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2E4E1-EC9C-4885-BCE9-934627B9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Circle wallet 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idempotent intent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C283D-7E71-4C1A-8183-568A1FCF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2381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566F5-735F-400C-BEFB-6B7C1739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49FEA-3470-4098-9A9E-2E4C0482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 on Arc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0CD61-5B17-4623-99B8-FF35439C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29050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Exact Transfer event,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network, asset, recipient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DA764-A678-49B4-A86C-25A4D9F5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DD0101-E382-451E-8361-F2CC5842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5EE269-0FD1-436A-88B5-A4D7F67F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7F839F-CC70-4A4A-808A-F52600C8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21073-81D2-4093-965E-C271EB0A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C14E"/>
                </a:solidFill>
                <a:latin typeface="Arial"/>
                <a:ea typeface="Arial"/>
                <a:cs typeface="Arial"/>
              </a:rPr>
              <a:t>AUTHORITY NEVER COMES FROM THE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515F1D-31D4-4C0D-9698-368B47B1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AI may classify and explain. Deterministic controls, human approvals, and sealed records decide whether funds can move.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46C02C-9263-4696-A13C-902004C0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9CFCF0-BB40-4CF9-B40C-8C914271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391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E6EE0-CBD2-4A49-8E9A-46210355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DETERMINISTIC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5BFCE-EDEA-4E9D-A983-00079A46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The judge can inspect why an invoice is payable.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CA98A-5A09-4DC9-9DE3-3E1381AD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result is replayable from sealed evidence, policy version, and treasury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2E574-6E65-4A12-921D-3A8A6AB1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67246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c01a26a8b4533"/>
          <a:srcRect xmlns:a="http://schemas.openxmlformats.org/drawingml/2006/main" l="0" t="29142" r="0" b="29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6457950" cy="3733800"/>
          </a:xfrm>
          <a:prstGeom xmlns:a="http://schemas.openxmlformats.org/drawingml/2006/main" prst="roundRect">
            <a:avLst>
              <a:gd name="adj" fmla="val 306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300BC-7472-46E5-8C55-89927136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77E23-BD55-437E-AAC1-36B4510C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02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CONTROLS CLEAR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5704F-2924-4E89-BBEE-F454A891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Vendor, wallet, PO, delivery, route, limits, reserve, and timing.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CB6CA-E6D6-4E83-B6DC-EFCC16CF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0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SHA-256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9F2C7-2629-4C65-906E-C3CAB77E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575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SOURCE BINDING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9C846-6C97-4B6B-8FE0-3C33AFF3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433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decision carries the evidence manifest, policy hash, and replay snapshot.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3D35C-8A79-4E60-AFAD-EB0855A3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04E56-266D-4AAE-A2FF-1EDE273F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148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AI PAYMENT AUTHORITY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33083-29D8-467E-A2C2-A4E80B0D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006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agent can recommend and explain, but cannot set amount, recipient, or authorization.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BA2CD-D2CB-4FDC-B562-4923B844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CACD0-D8CF-4352-A1FE-7F006F4B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81024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81B76-D240-4C0B-8EA6-57EE1F3A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AGENTIC SOPHISTICATION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19C2B-9C3A-42D3-A67C-FB4555C6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agent run. Every control rechecked.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21BD7-662C-4F80-A0A6-39E17FFD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A durable plan hashes observed state and proposed actions before any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FA03A-3842-40C4-B486-A75D96B9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a310d4dde4e85"/>
          <a:stretch xmlns:a="http://schemas.openxmlformats.org/drawingml/2006/main"/>
        </p:blipFill>
        <p:spPr>
          <a:xfrm xmlns:a="http://schemas.openxmlformats.org/drawingml/2006/main">
            <a:off x="3080951" y="2152650"/>
            <a:ext cx="6030097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E8D0B-0E8A-44DF-91D2-986FDA96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9F5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3AE23-2F43-4495-ADB6-6B4931F3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43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Policy-cleared payment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A6F64-A3F2-441D-86F0-CC944E4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D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22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A22B8"/>
                </a:solidFill>
                <a:latin typeface="Arial"/>
                <a:ea typeface="Arial"/>
                <a:cs typeface="Arial"/>
              </a:rPr>
              <a:t>ROUTED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FF495-2966-473F-8F39-6616B9D2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43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Segregated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32560-8E93-4E82-9FC0-D1C38D36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8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4FB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4FB4"/>
                </a:solidFill>
                <a:latin typeface="Arial"/>
                <a:ea typeface="Arial"/>
                <a:cs typeface="Arial"/>
              </a:rPr>
              <a:t>SKIPPED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1ECA7-876C-4417-AB9C-2FFE1B51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943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 and hold preserved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32AB9-DADD-4ACD-AEBB-1C4C0A7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8DC0D-D966-4246-8DE6-8A6B46F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383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7FAD7-BD55-40C8-88C0-485E05BB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NATIVE CONTROL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98F61-0F73-4EBB-86D8-8E98CCCC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Five outcomes. Only one grants immediate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payment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643DD-75F3-4695-AABF-958C9CC8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decision engine fails closed and tells the operator exactly what happens next.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2247900"/>
          <a:ext xmlns:a="http://schemas.openxmlformats.org/drawingml/2006/main" cx="111252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952750"/>
                <a:gridCol w="4095750"/>
                <a:gridCol w="2457450"/>
              </a:tblGrid>
              <a:tr h="584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TRIGGER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SYSTEM ACTION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WHO CAN RELEASE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PAY</a:t>
                      </a:r>
                    </a:p>
                  </a:txBody>
                  <a:tcPr marL="114300" marR="114300" marT="95250" marB="95250">
                    <a:solidFill>
                      <a:srgbClr val="B9F5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All mandatory controls pass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Create an idempotent payment intent and settle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Policy engine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SCHEDULE</a:t>
                      </a:r>
                    </a:p>
                  </a:txBody>
                  <a:tcPr marL="114300" marR="114300" marT="95250" marB="95250">
                    <a:solidFill>
                      <a:srgbClr val="D8E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Valid invoice, future payment window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Wait, then revalidate against current policy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Policy engine at due time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</a:p>
                  </a:txBody>
                  <a:tcPr marL="114300" marR="114300" marT="95250" marB="95250">
                    <a:solidFill>
                      <a:srgbClr val="FFF0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Evidence, wallet, or treasury risk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Block settlement and request remediation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Operator after correction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REJECT</a:t>
                      </a:r>
                    </a:p>
                  </a:txBody>
                  <a:tcPr marL="114300" marR="114300" marT="95250" marB="95250">
                    <a:solidFill>
                      <a:srgbClr val="FF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Duplicate or prohibited condition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Permanently deny this payment request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No automatic release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ESCALATE</a:t>
                      </a:r>
                    </a:p>
                  </a:txBody>
                  <a:tcPr marL="114300" marR="114300" marT="95250" marB="95250">
                    <a:solidFill>
                      <a:srgbClr val="E4D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Valid evidence above autonomy limit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Bind a separate human approval to the intent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Independent approver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2DB57-0EBF-418B-9143-9A36381C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Editable control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09B42-B90C-4708-A2F2-2E20A7FD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0550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Non-PAY outcomes never call the settlement provider.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04FC9-8AEF-4392-AEBC-980198DE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328B7-24AF-46B8-B912-D4778E2A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2050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3682C8-2747-4C3D-8201-4FE7B4EC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CIRCLE AND ARC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01B0C-7E70-4489-8B83-97EDCF5A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Settlement is accepted only after independent Arc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verification.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31AEF-6525-4846-943D-A9C70A46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Provider completion is necessary, then TallyGuard verifies the exact onchain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7773E-8A4D-45D8-95F2-97277A96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A2A68-4E62-46C5-AB88-51AB4898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225F8-B201-4B2E-9D51-D371E82A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PAY intent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DF94B-20F3-4474-B04A-E0EFE94D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Sealed amount, recipient, asset, network, idempotency 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4B060-7A95-4D35-B8FA-54455835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07C6B-8140-41A7-A03A-00721466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7020E-3184-42F4-AB70-4947178F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Circle wallet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7A5AA-4CFA-4CC9-80C4-84DB3030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Submit USDC transfer and poll provider lifecycle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F766A-62C3-44DD-8233-314F13D9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ADD38-9834-46A3-982F-2FDE2808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8EBFB-7B8D-4AF2-A9E7-520390BE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Arc RPC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9ABBC-95B7-4D43-87B7-654DB0A6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Fetch the transaction receipt from the expected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B6C86-E892-46B2-AB86-C2B0D66E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30861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2EE62-9535-4275-B05D-737CE906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9F5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1798C-4716-43D7-ADB3-E0950E44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Exact Transfer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8105B-724E-4BB5-A651-4F2BA73B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2743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Match contract, topic, sender, recipient, amount, and 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C3069-CDBA-4085-973E-95B0B9FC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28605-2B8E-4545-A04B-9CA5FB32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C7143-C72A-4463-8F86-1D5F82BE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D32A3A-B444-4481-AFB8-7E1E1189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858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9525">
            <a:solidFill>
              <a:srgbClr val="A9DA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F8871F-D4AB-40B9-BADC-BB10749E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CURRENT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FC0AB-D65C-4107-8AA3-9DE482BD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908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Adapter and verifier are implemented. A real Arc Testnet USDC transfer remains the next external acceptance test.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0C3BD-AE3E-431D-9A6E-A92E5CC4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CEF28-E263-4D23-A6F3-2DDE7FE8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96614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62211-534E-491F-B46F-6C3FF8DB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CHECKED-IN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D6568-F6E2-4D03-9944-46259F76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safety invariants survive concurrency.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623A4-0CA7-40E0-B50F-BE8185C4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Two reproducible HTTP stress suites ship with immutable JSON reports.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6EA4A-83C7-4903-A31A-BDE7353E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11252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99d4120c64412"/>
          <a:stretch xmlns:a="http://schemas.openxmlformats.org/drawingml/2006/main"/>
        </p:blipFill>
        <p:spPr>
          <a:xfrm xmlns:a="http://schemas.openxmlformats.org/drawingml/2006/main">
            <a:off x="2478980" y="2057400"/>
            <a:ext cx="723404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0DA79-1EE0-4826-96FC-E96180F7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10,000 / 10,000 workflows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F9891-0FCE-47AF-8582-CFD75B2F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62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 duplicate payments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354EB-BF72-416F-89B5-61CE87F2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9626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100 / 100 tenant breaches denied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88CE8-9790-4604-BCD4-5BE7D10A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62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100 contenders → 1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0D50A-A9CD-4D2A-B763-63ACB0F5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6BC9C-FFA7-47BE-9B0D-AA584AE9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4214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C17582-5FF9-4FFA-A5A0-2E48BAE3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TRACTION WITHOUT THEATER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B8444-0FFB-416F-B0EA-9E6479BE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Turn one real AP workflow into judge-verifiable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769F2-0560-4248-9369-749E3326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We will not label generated traffic as users. The pilot records real operator behavior and real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19376-8429-4681-9B44-2F600F78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3F512-D735-4FC6-B5DC-415E219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895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B2951-9770-411C-8CB4-91FB144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Self-operated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04799-0453-44CF-9A0F-D4E6A8BB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Run a genuine invoice, PO, delivery record, wallet, and treasury snapshot through the product.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DEB71-9069-4EC4-A7C9-F9DA4D04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87E70-5765-443A-A4EA-4C1842CB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5AEF5-3BFA-4EC2-A1DC-7432B4C9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Evidence completion · decision replay · operator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2C998-4FF6-4FE3-8EF7-332E61A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27185-9A9C-4814-BA88-A90289A7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895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5212-2AE1-4500-B058-AE6095A8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External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F8EC2-FA13-4693-AF75-44BCA068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Ask 2–3 finance or crypto operators to complete the judge path and record structured feedback.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033DF-0CF4-471D-96D7-9345E369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A310C-3448-4569-B652-76214D13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4FC10-89EA-4A79-96AE-AB1BA541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Completion rate · time-to-decision · blocked-risk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4D353-13AF-4A92-81EA-573F5E6B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BA624-5735-4EE2-9428-0D88B454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BEFORE SUBMISSION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6990F-9B9D-48DD-B79B-BD83E9F0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Real Arc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AE637-7BA4-493C-9299-E10748BC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Execute a capped Testnet transfer, reconcile the receipt, and publish the proof packet and demo clip.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F7283-14EE-4A86-83A2-FDB9C965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C2475F-4D52-4F0B-A92F-B2A676CA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BA1CE-F778-401F-AD49-39752EF7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Circle status · Arc tx hash · exact Transfer match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38DEC9-219A-4F8A-A3D4-D407FC50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D83674-ED1E-40CF-90AF-CB092CA5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08289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B3CA7-5A0C-4541-A5DF-53C2983E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TALLYGUARD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64367-D5E0-417C-81FB-73DD8036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57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the evidence.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Automate the 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E178A-0BE8-45BF-A652-A86336AD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A finance control plane for AI-operated businesses, built for Circle USDC on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6AD02-8F74-41E6-A342-A7D7D281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64437-C47D-4275-A8D7-6A1DC1DA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41A15-3234-4A2C-BD80-AFDE3D65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Multi-tenant product · deterministic controls · bounded agent runs · proof packets · stress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1E897-626C-4CB3-801D-0C6064B9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2C14E"/>
                </a:solidFill>
                <a:latin typeface="Arial"/>
                <a:ea typeface="Arial"/>
                <a:cs typeface="Arial"/>
              </a:rPr>
              <a:t>NEXT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6FD16-0B60-4C6F-8D93-21BB03B2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Capped Arc Testnet USDC transfer · external operator feedback · final under-3-minute walkthrough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5B62D-932D-4053-A6CA-DFE2305A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2247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TAMEION AGENTS HACKATHON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09613-3467-479C-ACF1-E5484676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000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EA09D"/>
                </a:solidFill>
                <a:latin typeface="Arial"/>
                <a:ea typeface="Arial"/>
                <a:cs typeface="Arial"/>
              </a:rPr>
              <a:t>Submission deadline  ·  October 10, 2026 11:59 PM 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6438F-90EA-448B-879B-BD9ED91D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3F25D-159D-48EB-9040-B6DDA8B0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437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2026-09-19T23:44:22.2990000Z</dcterms:created>
  <dcterms:modified xsi:type="dcterms:W3CDTF">2026-09-19T23:44:22.2990000Z</dcterms:modified>
</coreProperties>
</file>