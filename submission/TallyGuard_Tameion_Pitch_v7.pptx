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130db9d5c4db4" /><Relationship Type="http://schemas.openxmlformats.org/officeDocument/2006/relationships/extended-properties" Target="/docProps/app.xml" Id="R793ef57165a04cdc" /><Relationship Type="http://schemas.openxmlformats.org/officeDocument/2006/relationships/officeDocument" Target="/ppt/presentation.xml" Id="R1620fb89eee244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7aa7929da46ed"/>
  </p:sldMasterIdLst>
  <p:notesMasterIdLst>
    <p:notesMasterId xmlns:r="http://schemas.openxmlformats.org/officeDocument/2006/relationships" r:id="R4789c75f7f5346ca"/>
  </p:notesMasterIdLst>
  <p:sldIdLst>
    <p:sldId xmlns:r="http://schemas.openxmlformats.org/officeDocument/2006/relationships" id="256" r:id="R97f1006cdf214d09"/>
    <p:sldId xmlns:r="http://schemas.openxmlformats.org/officeDocument/2006/relationships" id="257" r:id="R5bc536232b884c67"/>
    <p:sldId xmlns:r="http://schemas.openxmlformats.org/officeDocument/2006/relationships" id="258" r:id="R0d7558fc735645a8"/>
    <p:sldId xmlns:r="http://schemas.openxmlformats.org/officeDocument/2006/relationships" id="259" r:id="R4e38946888334611"/>
    <p:sldId xmlns:r="http://schemas.openxmlformats.org/officeDocument/2006/relationships" id="260" r:id="R6cfe5e7eb04b4400"/>
    <p:sldId xmlns:r="http://schemas.openxmlformats.org/officeDocument/2006/relationships" id="261" r:id="Rf577477ff5314367"/>
    <p:sldId xmlns:r="http://schemas.openxmlformats.org/officeDocument/2006/relationships" id="262" r:id="R2f0d545c940e4c2d"/>
    <p:sldId xmlns:r="http://schemas.openxmlformats.org/officeDocument/2006/relationships" id="263" r:id="Rbdfb4b44d3f64294"/>
    <p:sldId xmlns:r="http://schemas.openxmlformats.org/officeDocument/2006/relationships" id="264" r:id="R11783cc8f7f4435d"/>
    <p:sldId xmlns:r="http://schemas.openxmlformats.org/officeDocument/2006/relationships" id="265" r:id="R59f915310eda44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ae57476514119" /><Relationship Type="http://schemas.openxmlformats.org/officeDocument/2006/relationships/slideMaster" Target="/ppt/slideMasters/slideMaster1.xml" Id="R78a7aa7929da46ed" /><Relationship Type="http://schemas.openxmlformats.org/officeDocument/2006/relationships/notesMaster" Target="/ppt/notesMasters/notesMaster1.xml" Id="R4789c75f7f5346ca" /><Relationship Type="http://schemas.openxmlformats.org/officeDocument/2006/relationships/presProps" Target="/ppt/presProps.xml" Id="R6a88dc7616344ac3" /><Relationship Type="http://schemas.openxmlformats.org/officeDocument/2006/relationships/tableStyles" Target="/ppt/tableStyles.xml" Id="R26cbba91691c4284" /><Relationship Type="http://schemas.openxmlformats.org/officeDocument/2006/relationships/slide" Target="/ppt/slides/slide1.xml" Id="R97f1006cdf214d09" /><Relationship Type="http://schemas.openxmlformats.org/officeDocument/2006/relationships/slide" Target="/ppt/slides/slide2.xml" Id="R5bc536232b884c67" /><Relationship Type="http://schemas.openxmlformats.org/officeDocument/2006/relationships/slide" Target="/ppt/slides/slide3.xml" Id="R0d7558fc735645a8" /><Relationship Type="http://schemas.openxmlformats.org/officeDocument/2006/relationships/slide" Target="/ppt/slides/slide4.xml" Id="R4e38946888334611" /><Relationship Type="http://schemas.openxmlformats.org/officeDocument/2006/relationships/slide" Target="/ppt/slides/slide5.xml" Id="R6cfe5e7eb04b4400" /><Relationship Type="http://schemas.openxmlformats.org/officeDocument/2006/relationships/slide" Target="/ppt/slides/slide6.xml" Id="Rf577477ff5314367" /><Relationship Type="http://schemas.openxmlformats.org/officeDocument/2006/relationships/slide" Target="/ppt/slides/slide7.xml" Id="R2f0d545c940e4c2d" /><Relationship Type="http://schemas.openxmlformats.org/officeDocument/2006/relationships/slide" Target="/ppt/slides/slide8.xml" Id="Rbdfb4b44d3f64294" /><Relationship Type="http://schemas.openxmlformats.org/officeDocument/2006/relationships/slide" Target="/ppt/slides/slide9.xml" Id="R11783cc8f7f4435d" /><Relationship Type="http://schemas.openxmlformats.org/officeDocument/2006/relationships/slide" Target="/ppt/slides/slide10.xml" Id="R59f915310eda44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a01ae7892449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eac2826d9b4713" /><Relationship Type="http://schemas.openxmlformats.org/officeDocument/2006/relationships/notesMaster" Target="/ppt/notesMasters/notesMaster1.xml" Id="Rf2a6ef668c68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f11d013b1847e3" /><Relationship Type="http://schemas.openxmlformats.org/officeDocument/2006/relationships/notesMaster" Target="/ppt/notesMasters/notesMaster1.xml" Id="Red39df48649d45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c94f21dda64f41" /><Relationship Type="http://schemas.openxmlformats.org/officeDocument/2006/relationships/notesMaster" Target="/ppt/notesMasters/notesMaster1.xml" Id="Rbd4b573d105a41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f85d671684596" /><Relationship Type="http://schemas.openxmlformats.org/officeDocument/2006/relationships/notesMaster" Target="/ppt/notesMasters/notesMaster1.xml" Id="Rd4b90cc057ce4e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34ddc8e6844944" /><Relationship Type="http://schemas.openxmlformats.org/officeDocument/2006/relationships/notesMaster" Target="/ppt/notesMasters/notesMaster1.xml" Id="R74e12975ce5e4d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cb6f8013844a02" /><Relationship Type="http://schemas.openxmlformats.org/officeDocument/2006/relationships/notesMaster" Target="/ppt/notesMasters/notesMaster1.xml" Id="Rb7d63aa5d4ad4b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e70a4baf44495" /><Relationship Type="http://schemas.openxmlformats.org/officeDocument/2006/relationships/notesMaster" Target="/ppt/notesMasters/notesMaster1.xml" Id="Rdc6582f6814f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2808a487854b79" /><Relationship Type="http://schemas.openxmlformats.org/officeDocument/2006/relationships/notesMaster" Target="/ppt/notesMasters/notesMaster1.xml" Id="R55024b1108a04e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df1aca1dc452f" /><Relationship Type="http://schemas.openxmlformats.org/officeDocument/2006/relationships/notesMaster" Target="/ppt/notesMasters/notesMaster1.xml" Id="R074d29466eb041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1ef1764564196" /><Relationship Type="http://schemas.openxmlformats.org/officeDocument/2006/relationships/notesMaster" Target="/ppt/notesMasters/notesMaster1.xml" Id="Rb7fd0ecaaf2b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screenshot: local TallyGuard judge workspace. Project sources: docs/HACKATHON_CONTEXT.md and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derived from docs/SECURITY_MODEL.md and docs/BACKEND_PRODUCT_SPEC.md. No market-size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docs/ARCHITECTURE.md. Settlement source: docs/CIRCLE_ARC_SETTLEMENT.md.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Supporting implementation: src/tallyguard/decisions.py, src/tallyguard/policies.py, src/tallyguard/evidence.py.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local product. Implementation: src/tallyguard/autonomy.py and src/tallyguard/persistence.py. The execution lease prevents multiple workers from executing the same durable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semantics are implemented in src/tallyguard/models.py, src/tallyguard/policy.py, and src/tallyguard/autonomy.py.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src/tallyguard/circle_arc.py and src/tallyguard/settlement.py. Technical reference: docs/CIRCLE_ARC_SETTLEMENT.md. The slide intentionally labels the real Testnet transfer as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docs/reports/load-test-10000.json, docs/reports/agent-run-load-50.json, and docs/reports/deployment-smoke.json. The workflow run injected a 500 ms provider delay while 200 duplicate calls competed; all converged on one provider submission and one transaction hash. These are synthetic engineering tests, not customer traction. Settlement used the deterministic Arc simulator and moved no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traction plan for the current build. Synthetic reliability data remains separately labeled. Deadline source: docs/HACKATHON_CONTEXT.md.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information: https://tameion.thecanteenapp.com/ and docs/HACKATHON_CONTEXT.md. GitHub and live-demo links should be added only after the user approves publication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e432e19ee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3be7b8e06e4a7d" /><Relationship Type="http://schemas.openxmlformats.org/officeDocument/2006/relationships/slideLayout" Target="/ppt/slideLayouts/slideLayout1.xml" Id="R05325c3cea47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325c3cea47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1205afa644d07" /><Relationship Type="http://schemas.openxmlformats.org/officeDocument/2006/relationships/image" Target="/ppt/media/image.png" Id="Racf92d2242c24aa7" /><Relationship Type="http://schemas.openxmlformats.org/officeDocument/2006/relationships/notesSlide" Target="/ppt/notesSlides/notesSlide1.xml" Id="R8c7ee970d1af4f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cb54499794117" /><Relationship Type="http://schemas.openxmlformats.org/officeDocument/2006/relationships/notesSlide" Target="/ppt/notesSlides/notesSlide2.xml" Id="R3fcc507402604f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f3d47abd64609" /><Relationship Type="http://schemas.openxmlformats.org/officeDocument/2006/relationships/notesSlide" Target="/ppt/notesSlides/notesSlide3.xml" Id="Rc45c40364324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dfbf3b8a245c8" /><Relationship Type="http://schemas.openxmlformats.org/officeDocument/2006/relationships/image" Target="/ppt/media/image2.png" Id="Rb78d3702d5794ffb" /><Relationship Type="http://schemas.openxmlformats.org/officeDocument/2006/relationships/notesSlide" Target="/ppt/notesSlides/notesSlide4.xml" Id="Rca5c8a9f59f7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bcaed0c0c4aaf" /><Relationship Type="http://schemas.openxmlformats.org/officeDocument/2006/relationships/image" Target="/ppt/media/image3.png" Id="Rbf5a9d9a06c24ad8" /><Relationship Type="http://schemas.openxmlformats.org/officeDocument/2006/relationships/notesSlide" Target="/ppt/notesSlides/notesSlide5.xml" Id="Re4db010e7e104b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3d05a79d42a1" /><Relationship Type="http://schemas.openxmlformats.org/officeDocument/2006/relationships/notesSlide" Target="/ppt/notesSlides/notesSlide6.xml" Id="R7b21a61873c941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62dc47a694ddb" /><Relationship Type="http://schemas.openxmlformats.org/officeDocument/2006/relationships/notesSlide" Target="/ppt/notesSlides/notesSlide7.xml" Id="R60d081e37b0543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bd62ed494bf8" /><Relationship Type="http://schemas.openxmlformats.org/officeDocument/2006/relationships/image" Target="/ppt/media/image4.png" Id="R5ca873e2194c4fbe" /><Relationship Type="http://schemas.openxmlformats.org/officeDocument/2006/relationships/notesSlide" Target="/ppt/notesSlides/notesSlide8.xml" Id="R52c56230d30041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430715da44f1e" /><Relationship Type="http://schemas.openxmlformats.org/officeDocument/2006/relationships/notesSlide" Target="/ppt/notesSlides/notesSlide9.xml" Id="R5db28447b45f49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afab1ec474f3f" /><Relationship Type="http://schemas.openxmlformats.org/officeDocument/2006/relationships/notesSlide" Target="/ppt/notesSlides/notesSlide10.xml" Id="R1b0b1db850af48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EABB8-0E98-4931-99C9-21F49B1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B2AAF-BF46-4328-B88C-711B539C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before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FF492-EBD9-4007-8A17-C95F7281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Evidence-bound autonomous accounts payable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for AI-operated businesses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194B-DB4B-432F-849E-ABF1E42C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PRIMARY RFB  ·  AP / AR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2C5AE-9665-473D-8D95-C316E3D2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862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58E0D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COMPLIANCE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30BC3-5A2A-4FB2-8E49-C3CFC6B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Canteen × Circle × Arc  /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ACD9F-B3B8-4669-9B90-6909A37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66750"/>
            <a:ext cx="5619750" cy="5467350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3423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92d2242c24aa7"/>
          <a:stretch xmlns:a="http://schemas.openxmlformats.org/drawingml/2006/main"/>
        </p:blipFill>
        <p:spPr>
          <a:xfrm xmlns:a="http://schemas.openxmlformats.org/drawingml/2006/main">
            <a:off x="6191250" y="1118394"/>
            <a:ext cx="5200650" cy="36115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729B1-92C7-454F-82C5-1415F99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435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C3BAC-DAF6-4344-9AF8-F998E73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53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DETERMINISTIC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11213-D3D3-4DE6-96F4-5429626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197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explains. Policy authorizes. Arc proves.</a:t>
            </a:r>
          </a:p>
        </p:txBody>
      </p:sp>
    </p:spTree>
    <p:extLst>
      <p:ext uri="{BB962C8B-B14F-4D97-AF65-F5344CB8AC3E}">
        <p14:creationId xmlns:p14="http://schemas.microsoft.com/office/powerpoint/2010/main" val="1145043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52EFF-BFB0-4BCB-BFB4-3BD733D6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THE CONTROL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52F3E-8B1A-48A8-AB06-FD253CF2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Agents can move faster than finance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72EBD-EC7B-42B6-9EF1-0F942781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Accounts payable needs machine speed without surrendering financial authority.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39345-B866-49FB-B0A5-80C64D7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6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2C37B-3828-4AD2-A61E-284D2A8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56C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6C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82F84-341A-48D3-ACAC-CFF6224E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UNTRUSTED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A9B9A-5D48-4AC4-B73A-39A1435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Invoices, emails, PDFs, prompts, and wallet-change requests can all carry conflicting or manipulated instructions.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570FE-5521-4514-AD37-C259EF2C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5E300-79CB-4539-B5D9-5A14CD5E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2C1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EF0C6-A1CB-44CB-8D1B-75099CCF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AMBIGUOUS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2A3CE-DDE5-4E87-8B0B-F27DA65F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model recommendation is useful context, but it cannot decide whether company funds are legally or operationally authorized.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4AE8B-56A3-40FD-B611-37F43BC2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ECE2A-5C51-4ABD-BE08-7E2F36F0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A98B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8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BA4B9-9C0C-4D10-B978-9921F6F6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WEAK SETTLEMENT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864EE-8B15-48C4-A911-6614513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390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provider status alone does not prove the exact USDC transfer landed on the intended Arc network and recipient.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25109-DD84-4FBF-8257-AF67B0BC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80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91ACD-383D-4198-ABA3-AB5B3FDD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missing primitive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7FFC1-13F4-46E2-B2A3-89D067BA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 verifiable decision boundary between evidence and money movement.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100DA-A18E-4BF0-8398-92614B73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B6E2B-23B2-47CD-B1A0-01A9BAA4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0967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CB702-3596-4999-85D9-6641A7E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ONE BOUNDED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4AE6F-59E4-487A-B136-7ADCC797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source evidence to independently verified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65FDA-141E-4DA3-B9F6-CBB143A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Every step produces an immutable record. Every fund-moving action is revalidated.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5EF6C-E666-4C04-82B6-18342861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C5A4F-53B7-4AF6-A0F7-475DBEF1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2464C-A366-4808-86D4-0EE8458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A37B7-27F3-4B04-B01D-32E40535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PDF, image, or 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with field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6CBBD-4181-4A92-AA3D-E80A0CF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711E-D4D2-4BE3-9A1F-DE789CAA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7760B-FA9E-4A49-BCEB-FA8C3646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6DF22-3A85-4186-92A7-890E673F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13 deterministic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financial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F7177-F836-419B-8041-63E60379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F33B2-9935-408B-9BEC-F8DF809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6592C-F1E8-4DDC-BD56-320994F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A4C64-DFD7-4044-8D17-63F7A57D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PAY, schedule, hold,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reject, or escalate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9E3EE-46DB-443F-851C-A7524D6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809750" cy="2190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703D5-1819-4448-81C5-3F47AF87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7358E-701C-49E9-A1E5-FDCE032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USDC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573F4-FC4F-454C-BA71-2ABF16B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Circle wallet 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idempotent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9438D-7112-4E54-8583-7CA94175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2381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40131-FEB6-4779-98BD-6106525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30E95-4B3B-487E-A2BB-5EB16AF6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on Arc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0BC9B-A6EE-47C5-A88F-0A7C4C3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Exact Transfer event,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FC8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C5"/>
                </a:solidFill>
                <a:latin typeface="Arial"/>
                <a:ea typeface="Arial"/>
                <a:cs typeface="Arial"/>
              </a:rPr>
              <a:t>network, asset, recipient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3CF50-BDB8-437C-8C34-CC16947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2CC84-BEC9-428E-8A21-94ECC1C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4F876-CB3B-425D-B574-8CF23E3B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AA9EA-3C2A-48BD-A2EB-9956612D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290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1CB35-53EB-4652-905B-13363798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AUTHORITY NEVER COMES FROM THE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3B2CC-C659-48CA-88BB-C1E48303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may classify and explain. Deterministic controls, human approvals, and sealed records decide whether funds can move.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6B35F-9711-4392-A667-BC52564A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D45525-A86B-41C4-9E4C-C88191DA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2743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9889D-7451-4B86-9F04-2A8CF8DE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5BA73-61EE-4BDF-832F-B338A3B9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The judge can inspect why an invoice is payable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80185-7F0E-4248-B8C7-8A9C107A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result is replayable from sealed evidence, policy version, and treasury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40AC9-EA14-4105-9B64-76F49A98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6724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d3702d5794ffb"/>
          <a:srcRect xmlns:a="http://schemas.openxmlformats.org/drawingml/2006/main" l="0" t="33452" r="0" b="33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6457950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0EEB3-B7B9-427B-B56C-0BF6C53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7900A-15DE-4AEE-BFAB-56A9779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0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CONTROLS 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4B36F-F291-4D0D-9273-11E81DF4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Vendor, wallet, PO, delivery, route, limits, reserve, wallet-change cooldown, and timing.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B1B91-F36C-413C-B486-79D09DA9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5E814-ED7F-4C87-9050-0D6B9A0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SOURCE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39F85-382B-442C-AEF5-3EBD01D7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carries the evidence manifest, policy hash, and replay snapshot.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2DAD4-6B72-4BA1-A497-7E301B7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9EB5E-7C13-4FCE-9781-D0B0C5B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14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AI PAYMENT AUTHORITY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2D3C8-0DC1-4605-8F44-8AACBAB4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0065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agent can recommend and explain, but cannot set amount, recipient, or authorization.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EDA48-6329-4186-BE73-FE9D05D0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553F6-2A5E-4410-A664-5232B28F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5809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F485B-9B2D-41D2-9EDC-B8082687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AGENTIC SOPHISTICATION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DD784-BCBB-4952-85FE-2B97A97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agent run. Every control rechecked.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118F5-67F4-49C7-A17D-45B5A1F5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durable plan hashes observed state and proposed actions before any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6F713-F165-481E-8C09-21CAD275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125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a9d9a06c24ad8"/>
          <a:stretch xmlns:a="http://schemas.openxmlformats.org/drawingml/2006/main"/>
        </p:blipFill>
        <p:spPr>
          <a:xfrm xmlns:a="http://schemas.openxmlformats.org/drawingml/2006/main">
            <a:off x="3080951" y="2152650"/>
            <a:ext cx="6030097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6077C-F1DB-4CF8-8901-41214B3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E931E-D6D9-43E7-9418-64292AAF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Policy-cleared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4A9F2-B2EE-4582-820C-5FA05752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D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A22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22B8"/>
                </a:solidFill>
                <a:latin typeface="Arial"/>
                <a:ea typeface="Arial"/>
                <a:cs typeface="Arial"/>
              </a:rPr>
              <a:t>ROUTED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887D6-663E-4609-B077-4480F256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Segregated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5DA22-E1FA-40DD-B583-A8E5662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905500"/>
            <a:ext cx="1028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8E7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14F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4FB4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FA3A6-3BA3-442B-9B6C-6067308C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43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 and hold preserved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3105F-7CC6-4019-B452-E35BC477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F23E8-FAA1-4C04-9F54-7ED5172C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546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4BA15-D079-4462-A3BB-1C9CFECF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NATIVE CONTROL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DE4C5-B254-4C54-A4C9-3C45506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Five outcomes. Only one grants immediate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payment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AA1DA-DDE0-4075-AB30-49BB661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decision engine fails closed and tells the operator exactly what happens next.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2247900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952750"/>
                <a:gridCol w="4095750"/>
                <a:gridCol w="2457450"/>
              </a:tblGrid>
              <a:tr h="584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SYSTEM ACTION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8E0D0"/>
                          </a:solidFill>
                          <a:latin typeface="Arial"/>
                          <a:ea typeface="Arial"/>
                          <a:cs typeface="Arial"/>
                        </a:rPr>
                        <a:t>WHO CAN RELEASE</a:t>
                      </a:r>
                    </a:p>
                  </a:txBody>
                  <a:tcPr marL="114300" marR="114300" marT="95250" marB="95250">
                    <a:solidFill>
                      <a:srgbClr val="09171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PAY</a:t>
                      </a:r>
                    </a:p>
                  </a:txBody>
                  <a:tcPr marL="114300" marR="114300" marT="95250" marB="95250">
                    <a:solidFill>
                      <a:srgbClr val="B9F5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All mandatory controls pass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Create an idempotent payment intent and settle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114300" marR="114300" marT="95250" marB="95250">
                    <a:solidFill>
                      <a:srgbClr val="D8E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invoice, future payment window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Wait, then revalidate against current policy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Policy engine at due time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HOLD</a:t>
                      </a:r>
                    </a:p>
                  </a:txBody>
                  <a:tcPr marL="114300" marR="114300" marT="95250" marB="95250">
                    <a:solidFill>
                      <a:srgbClr val="FFF0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Evidence, wallet, or treasury risk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Block settlement and request remediation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Operator after correction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REJECT</a:t>
                      </a:r>
                    </a:p>
                  </a:txBody>
                  <a:tcPr marL="114300" marR="114300" marT="95250" marB="95250">
                    <a:solidFill>
                      <a:srgbClr val="FF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Duplicate or prohibited condition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Permanently deny this payment request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No automatic release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ESCALATE</a:t>
                      </a:r>
                    </a:p>
                  </a:txBody>
                  <a:tcPr marL="114300" marR="114300" marT="95250" marB="95250">
                    <a:solidFill>
                      <a:srgbClr val="E4D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Valid evidence above autonomy limit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Bind a separate human approval to the intent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91718"/>
                          </a:solidFill>
                          <a:latin typeface="Arial"/>
                          <a:ea typeface="Arial"/>
                          <a:cs typeface="Arial"/>
                        </a:rPr>
                        <a:t>Independent approver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2C488-224E-436D-B251-F1C2C42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Editable control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7F699-C206-4481-93D9-04AC0028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Non-PAY outcomes never call the settlement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B5FFC-9746-499A-B769-74CCB9C5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1DF55-08F0-42E3-BA97-B5ACE819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9467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C7CAC-017D-4490-AC86-B71643C4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CIRCLE AND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C688F-F173-45C7-AA17-D82E05AC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Settlement is accepted only after independent Arc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60C10-E6EA-4D8C-A70C-411EFA3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Provider completion is necessary, then TallyGuard verifies the exact onchain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9E297-DA4A-4232-BBDD-24E8386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39968-3EFA-4130-A9BA-2A4385FE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83BED-DB0D-45D3-A276-C4090B9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PAY 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72053-26FB-4685-90D1-FBCCEBF6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Sealed amount, recipient, asset, network, idempotency 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926DC-167F-49B8-ACE5-D6FA5E7B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D0BAE-2F24-4824-9B5B-81D1238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8DC1E-DDC4-4605-A7C9-44557EC2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wallet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7FBD2-F4DC-4791-9558-961671F9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Submit USDC transfer and poll provider lifecycle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81BEE-A3BD-46FF-A64E-5F3EDDF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095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4F6D7-8531-47B8-A7ED-4901C38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82398-8DC2-455D-896C-9E7EAAC7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Arc RPC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62D20-B8A3-49B1-8DCD-88D1A37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Fetch the transaction receipt from the expected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90B27-0E9B-471F-AE17-BEAED642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0861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5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D8933-93D7-4289-B280-B5E0E566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19400"/>
            <a:ext cx="342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9F5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FCA6A-74CB-4D8A-96D9-2256B0DD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Exact Transfer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22B77-72FB-4E2B-BFEE-D851FBE3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743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Match contract, topic, sender, recipient, amount, and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9918A-10B7-4609-A144-09B8D68E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B6DE0-819D-46CD-A2B2-55BFE2C7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F265A-40BA-42FA-8D2C-F490E809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B0F88-CAB0-436B-B0E8-4AEE7F1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A9DA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E0C17-0145-4E23-B63C-87C84956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CURRENT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A83B3-5F97-46E1-8B14-E2AA8E1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908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Adapter, offline verifier, and isolated wallet-pair setup are ready. Credentials and funded Testnet USDC remain the external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68C01-4E4F-417E-8F43-7EACD58F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3A99C-B1F8-4AED-97A8-A5E2B1C2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7246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08FC1-FBE3-4738-8FD5-91FB5D58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CHECKED-IN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57E32-ACCB-472B-B936-A9C50330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invariants survive concurrency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8A332-009C-45BB-B7B7-FE47CAA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Two stress suites plus a production-shaped HTTP gate ship as content-addressed reports.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58969-2B7E-4B30-9467-7AA6AC0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1125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02326"/>
          </a:solidFill>
          <a:ln xmlns:a="http://schemas.openxmlformats.org/drawingml/2006/main" w="9525">
            <a:solidFill>
              <a:srgbClr val="28514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73e2194c4fbe"/>
          <a:stretch xmlns:a="http://schemas.openxmlformats.org/drawingml/2006/main"/>
        </p:blipFill>
        <p:spPr>
          <a:xfrm xmlns:a="http://schemas.openxmlformats.org/drawingml/2006/main">
            <a:off x="2478980" y="2057400"/>
            <a:ext cx="723404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B092D-0BD7-45D2-824D-B1B3F7A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10,000 / 10,000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088FC-55FE-42AB-8209-1E563C87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626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200 retries · 500 ms → 1 submit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DED3F-4648-438D-8568-19287D7E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9626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100 / 100 tenant breaches denied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5BF3A-4D65-4F76-86B7-4E806153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7 / 7 deployment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40189-3982-40F3-8EC7-825446D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E684E-6CCA-4DE6-8BD2-6C946F18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8948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1F3CC-0C1B-4631-8638-50330BB1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TRACTION WITHOUT THEATER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EF4CA-F597-4590-9284-B2BC7E4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Turn one real AP workflow into judge-verifiable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531D3-1D56-46C6-86B8-2DB73A22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The pilot binds real operator behavior to a verified Payment Evidence Packet.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BC6B3-C8F9-423D-A5DF-56B3FEA6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80E19-DC80-47F2-A57B-D5D4D304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CBE2F-DE32-4EEF-9A1B-F62299A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Self-operated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2C588-134A-432B-AD8D-47F887D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Run an actual invoice, PO, delivery record, wallet, and treasury snapshot through the product.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69D4D-FAA6-4A52-888F-67A4128E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1B088-6BD5-4289-87A3-FE69868A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A7E47-B349-4105-AA79-BC11487D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Attestation hash, packet hash, operator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276E1-0EEA-49D3-8F4A-8EE91ADB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68D03-A847-4553-9B2C-EE166698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8953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EF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5B869-15FD-4AC9-8762-0FC00DA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External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2EBAE-E1C9-4F0F-8298-490A05E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Ask 2–3 finance or crypto operators to complete the judge path and record structured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4C5F4-AA53-42C4-A530-BA587B5B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89BFC-D33E-419D-8EA6-3A4DDC5B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3B913-F569-4801-95A0-12D1E01E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Completion rate, time to decision, risk recall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8C807-A5E6-4213-9F0F-064B6C79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CDD35-204C-49A4-B62F-F174FEA1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BEFORE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F10B3-3B39-4856-BF8D-AACBDD56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Real Arc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A559A-3BA0-4A67-AAB4-DABB0974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162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D"/>
                </a:solidFill>
                <a:latin typeface="Arial"/>
                <a:ea typeface="Arial"/>
                <a:cs typeface="Arial"/>
              </a:rPr>
              <a:t>Execute a capped Testnet transfer, reconcile the receipt, and publish the proof packet and demo clip.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C5950B-8824-470D-BBB3-01B5E9A6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BC1A0-2E58-4666-9A47-3D39BED9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007E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E76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DE354-884C-4302-AEEB-B6E5D6A4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91718"/>
                </a:solidFill>
                <a:latin typeface="Arial"/>
                <a:ea typeface="Arial"/>
                <a:cs typeface="Arial"/>
              </a:rPr>
              <a:t>Circle status, Arc transaction, exact Transfer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D96B2-9FB6-457B-AE25-B386AFAB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43A96-EACC-49FF-8B74-EC04A73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D6B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B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7880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89C59-8496-4422-9910-0950269F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TALLYGUARD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95E0F-E48C-4DA0-AA90-9DDE4442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57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evidence.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Automate the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769D7-E41C-46C4-8E87-A2B3B4D6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B8CFC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FCC"/>
                </a:solidFill>
                <a:latin typeface="Arial"/>
                <a:ea typeface="Arial"/>
                <a:cs typeface="Arial"/>
              </a:rPr>
              <a:t>A finance control plane for AI-operated businesses, built for Circle USDC on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C6AF-6A2F-412E-86FD-BACB5962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E093-13F5-4EBF-BA7A-B51FAF91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58E0D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8E0D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49DB9-A012-4781-9A48-B4D5A9AC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Multi-tenant product, deterministic controls, bounded agent runs, offline verifier, stress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53C89-C256-4242-A135-A7E1B48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2C14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2C14E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DDB23-76DC-49C6-B1AF-62D1A9C3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Capped Arc Testnet USDC transfer, external operator feedback, final three-minute walkthrough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9BAD3-3FBC-47EE-86FD-98170DEC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2247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58E0D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17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91718"/>
                </a:solidFill>
                <a:latin typeface="Arial"/>
                <a:ea typeface="Arial"/>
                <a:cs typeface="Arial"/>
              </a:rPr>
              <a:t>TAMEION AGENTS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38E66-4BE9-49B0-B2DD-EFA94C52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000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EA09D"/>
                </a:solidFill>
                <a:latin typeface="Arial"/>
                <a:ea typeface="Arial"/>
                <a:cs typeface="Arial"/>
              </a:rPr>
              <a:t>Submission deadline  ·  October 10, 2026 11:59 PM 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D33FE-AFCF-4A97-BE46-1BEA3560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TALLYGUARD  /  TAMEION AGENTS HACKATHON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A39CF-785D-4A16-A3AE-525F6609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674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7EA09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EA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9935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2026-09-20T01:42:45.7200000Z</dcterms:created>
  <dcterms:modified xsi:type="dcterms:W3CDTF">2026-09-20T01:42:45.7210000Z</dcterms:modified>
</coreProperties>
</file>