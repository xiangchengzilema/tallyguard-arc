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9526f365a249e5" /><Relationship Type="http://schemas.openxmlformats.org/officeDocument/2006/relationships/extended-properties" Target="/docProps/app.xml" Id="Rf55fd1991a28428d" /><Relationship Type="http://schemas.openxmlformats.org/officeDocument/2006/relationships/officeDocument" Target="/ppt/presentation.xml" Id="R3aadca4eaaa442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ea1503b523412f"/>
  </p:sldMasterIdLst>
  <p:notesMasterIdLst>
    <p:notesMasterId xmlns:r="http://schemas.openxmlformats.org/officeDocument/2006/relationships" r:id="R292b0915241848bb"/>
  </p:notesMasterIdLst>
  <p:sldIdLst>
    <p:sldId xmlns:r="http://schemas.openxmlformats.org/officeDocument/2006/relationships" id="256" r:id="Rdf5bfe2189904033"/>
    <p:sldId xmlns:r="http://schemas.openxmlformats.org/officeDocument/2006/relationships" id="257" r:id="R879294794dbe4373"/>
    <p:sldId xmlns:r="http://schemas.openxmlformats.org/officeDocument/2006/relationships" id="258" r:id="Re4548448b71647f0"/>
    <p:sldId xmlns:r="http://schemas.openxmlformats.org/officeDocument/2006/relationships" id="259" r:id="R98ea239eb5ad49d6"/>
    <p:sldId xmlns:r="http://schemas.openxmlformats.org/officeDocument/2006/relationships" id="260" r:id="R44162c3c1ec148b2"/>
    <p:sldId xmlns:r="http://schemas.openxmlformats.org/officeDocument/2006/relationships" id="261" r:id="R8e0fe472a00d410a"/>
    <p:sldId xmlns:r="http://schemas.openxmlformats.org/officeDocument/2006/relationships" id="262" r:id="R4ea4ac8e85954613"/>
    <p:sldId xmlns:r="http://schemas.openxmlformats.org/officeDocument/2006/relationships" id="263" r:id="R674f3ac8bd274e98"/>
    <p:sldId xmlns:r="http://schemas.openxmlformats.org/officeDocument/2006/relationships" id="264" r:id="R3d5d1255f1f2431a"/>
    <p:sldId xmlns:r="http://schemas.openxmlformats.org/officeDocument/2006/relationships" id="265" r:id="Rdb74215181334e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6f984f6b1145cb" /><Relationship Type="http://schemas.openxmlformats.org/officeDocument/2006/relationships/slideMaster" Target="/ppt/slideMasters/slideMaster1.xml" Id="R44ea1503b523412f" /><Relationship Type="http://schemas.openxmlformats.org/officeDocument/2006/relationships/notesMaster" Target="/ppt/notesMasters/notesMaster1.xml" Id="R292b0915241848bb" /><Relationship Type="http://schemas.openxmlformats.org/officeDocument/2006/relationships/presProps" Target="/ppt/presProps.xml" Id="Ra9e7cb7206e84549" /><Relationship Type="http://schemas.openxmlformats.org/officeDocument/2006/relationships/tableStyles" Target="/ppt/tableStyles.xml" Id="R35800af44ae94944" /><Relationship Type="http://schemas.openxmlformats.org/officeDocument/2006/relationships/slide" Target="/ppt/slides/slide1.xml" Id="Rdf5bfe2189904033" /><Relationship Type="http://schemas.openxmlformats.org/officeDocument/2006/relationships/slide" Target="/ppt/slides/slide2.xml" Id="R879294794dbe4373" /><Relationship Type="http://schemas.openxmlformats.org/officeDocument/2006/relationships/slide" Target="/ppt/slides/slide3.xml" Id="Re4548448b71647f0" /><Relationship Type="http://schemas.openxmlformats.org/officeDocument/2006/relationships/slide" Target="/ppt/slides/slide4.xml" Id="R98ea239eb5ad49d6" /><Relationship Type="http://schemas.openxmlformats.org/officeDocument/2006/relationships/slide" Target="/ppt/slides/slide5.xml" Id="R44162c3c1ec148b2" /><Relationship Type="http://schemas.openxmlformats.org/officeDocument/2006/relationships/slide" Target="/ppt/slides/slide6.xml" Id="R8e0fe472a00d410a" /><Relationship Type="http://schemas.openxmlformats.org/officeDocument/2006/relationships/slide" Target="/ppt/slides/slide7.xml" Id="R4ea4ac8e85954613" /><Relationship Type="http://schemas.openxmlformats.org/officeDocument/2006/relationships/slide" Target="/ppt/slides/slide8.xml" Id="R674f3ac8bd274e98" /><Relationship Type="http://schemas.openxmlformats.org/officeDocument/2006/relationships/slide" Target="/ppt/slides/slide9.xml" Id="R3d5d1255f1f2431a" /><Relationship Type="http://schemas.openxmlformats.org/officeDocument/2006/relationships/slide" Target="/ppt/slides/slide10.xml" Id="Rdb74215181334e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7827fa303c47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549d4f39bd4d69" /><Relationship Type="http://schemas.openxmlformats.org/officeDocument/2006/relationships/notesMaster" Target="/ppt/notesMasters/notesMaster1.xml" Id="R73b0e442fd1e47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3c0ecae0804dbc" /><Relationship Type="http://schemas.openxmlformats.org/officeDocument/2006/relationships/notesMaster" Target="/ppt/notesMasters/notesMaster1.xml" Id="R7735d2a745c647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62f06ce54e49fb" /><Relationship Type="http://schemas.openxmlformats.org/officeDocument/2006/relationships/notesMaster" Target="/ppt/notesMasters/notesMaster1.xml" Id="Rf5df586cb5d147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ea6e09ae4b4c39" /><Relationship Type="http://schemas.openxmlformats.org/officeDocument/2006/relationships/notesMaster" Target="/ppt/notesMasters/notesMaster1.xml" Id="R09b7f7dc7a664d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511349f9254e55" /><Relationship Type="http://schemas.openxmlformats.org/officeDocument/2006/relationships/notesMaster" Target="/ppt/notesMasters/notesMaster1.xml" Id="R578aafb9e6c440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22d26d04ae4c8d" /><Relationship Type="http://schemas.openxmlformats.org/officeDocument/2006/relationships/notesMaster" Target="/ppt/notesMasters/notesMaster1.xml" Id="R57165d30335448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6e48cf437c427d" /><Relationship Type="http://schemas.openxmlformats.org/officeDocument/2006/relationships/notesMaster" Target="/ppt/notesMasters/notesMaster1.xml" Id="R6fec0125adbc4a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ce2d8eb58f4a13" /><Relationship Type="http://schemas.openxmlformats.org/officeDocument/2006/relationships/notesMaster" Target="/ppt/notesMasters/notesMaster1.xml" Id="Rc7cee71b5e5642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e9cb3f055242fc" /><Relationship Type="http://schemas.openxmlformats.org/officeDocument/2006/relationships/notesMaster" Target="/ppt/notesMasters/notesMaster1.xml" Id="Re284a9b67c0348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feb3efcec64618" /><Relationship Type="http://schemas.openxmlformats.org/officeDocument/2006/relationships/notesMaster" Target="/ppt/notesMasters/notesMaster1.xml" Id="Ra169724424ae46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screenshot: local TallyGuard judge workspace. Project sources: docs/HACKATHON_CONTEXT.md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derived from docs/SECURITY_MODEL.md and docs/BACKEND_PRODUCT_SPEC.md. No market-size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docs/ARCHITECTURE.md. Settlement source: docs/CIRCLE_ARC_SETTLEMENT.md.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product. Supporting implementation: src/tallyguard/decisions.py, src/tallyguard/policies.py, src/tallyguard/evidence.py.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product. Implementation: src/tallyguard/autonomy.py and src/tallyguard/persistence.py. The execution lease prevents multiple workers from executing the same durable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semantics are implemented in src/tallyguard/models.py, src/tallyguard/policy.py, and src/tallyguard/autonomy.py.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src/tallyguard/circle_arc.py and src/tallyguard/settlement.py. Technical reference: docs/CIRCLE_ARC_SETTLEMENT.md. The slide intentionally labels the real Testnet transfer as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docs/reports/load-test-10000.json, docs/reports/agent-run-load-50.json, and docs/reports/deployment-smoke.json. The workflow run injected a 500 ms provider delay while 200 duplicate calls competed; all converged on one provider submission and one transaction hash. These are synthetic engineering tests, not customer traction. Settlement used the deterministic Arc simulator and moved no funds.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honest traction plan for the current build. Synthetic reliability data remains separately labeled. Deadline source: docs/HACKATHON_CONTEXT.md.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desktop and 390 px captures show the same responsive React application and governed-payment path, not separate clients. Captured locally from the current product. Event information: https://tameion.thecanteenapp.com/ and docs/HACKATHON_CONTEXT.md. GitHub and live-demo links should be added only after the user approves publication and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7fddf07d04e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c988125f924960" /><Relationship Type="http://schemas.openxmlformats.org/officeDocument/2006/relationships/slideLayout" Target="/ppt/slideLayouts/slideLayout1.xml" Id="Re7693b9ef9534c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693b9ef9534c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f0decf88e4908" /><Relationship Type="http://schemas.openxmlformats.org/officeDocument/2006/relationships/image" Target="/ppt/media/image.png" Id="R7fcbfaff73c242a0" /><Relationship Type="http://schemas.openxmlformats.org/officeDocument/2006/relationships/notesSlide" Target="/ppt/notesSlides/notesSlide1.xml" Id="R0b217b351bf948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30e0192eb41c8" /><Relationship Type="http://schemas.openxmlformats.org/officeDocument/2006/relationships/notesSlide" Target="/ppt/notesSlides/notesSlide2.xml" Id="R0a60ee37c6f948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eabbef86644fd" /><Relationship Type="http://schemas.openxmlformats.org/officeDocument/2006/relationships/notesSlide" Target="/ppt/notesSlides/notesSlide3.xml" Id="Reb080a4e485849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1079a6bc64e5a" /><Relationship Type="http://schemas.openxmlformats.org/officeDocument/2006/relationships/image" Target="/ppt/media/image2.png" Id="R889450923ca34577" /><Relationship Type="http://schemas.openxmlformats.org/officeDocument/2006/relationships/notesSlide" Target="/ppt/notesSlides/notesSlide4.xml" Id="Red759a015d5341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93b3d52ff4a43" /><Relationship Type="http://schemas.openxmlformats.org/officeDocument/2006/relationships/image" Target="/ppt/media/image3.png" Id="R666c7087452c4fd2" /><Relationship Type="http://schemas.openxmlformats.org/officeDocument/2006/relationships/notesSlide" Target="/ppt/notesSlides/notesSlide5.xml" Id="R32d7bf68b7c543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809fb09d94ef5" /><Relationship Type="http://schemas.openxmlformats.org/officeDocument/2006/relationships/notesSlide" Target="/ppt/notesSlides/notesSlide6.xml" Id="R8e5753dcc4a348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248890f004c50" /><Relationship Type="http://schemas.openxmlformats.org/officeDocument/2006/relationships/notesSlide" Target="/ppt/notesSlides/notesSlide7.xml" Id="R108a20fd2d484a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bd57c538c4dac" /><Relationship Type="http://schemas.openxmlformats.org/officeDocument/2006/relationships/image" Target="/ppt/media/image4.png" Id="R3155e97ade4047c2" /><Relationship Type="http://schemas.openxmlformats.org/officeDocument/2006/relationships/notesSlide" Target="/ppt/notesSlides/notesSlide8.xml" Id="Rf8308f30bca74d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14ec2870e44fe" /><Relationship Type="http://schemas.openxmlformats.org/officeDocument/2006/relationships/notesSlide" Target="/ppt/notesSlides/notesSlide9.xml" Id="R81ca9830019547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e95d15f384347" /><Relationship Type="http://schemas.openxmlformats.org/officeDocument/2006/relationships/image" Target="/ppt/media/image5.png" Id="R7c41352e14d34d47" /><Relationship Type="http://schemas.openxmlformats.org/officeDocument/2006/relationships/image" Target="/ppt/media/image6.png" Id="R934409a16c434dbd" /><Relationship Type="http://schemas.openxmlformats.org/officeDocument/2006/relationships/notesSlide" Target="/ppt/notesSlides/notesSlide10.xml" Id="Rdec2d07064f24d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4A683-B026-48CB-965E-31E58D22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TALLYGUARD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180BA-C286-4F54-AB32-E318AEAF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 before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CA5CB-593F-4A86-8BF5-E1CCD5E0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Evidence-bound autonomous accounts payable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for AI-operated businesses on Arc.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FDE54-2149-499A-BF4B-6F3D8CE9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27813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PRIMARY RFB  ·  AP / AR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4497E-8BC8-476E-B446-41B0B086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86250"/>
            <a:ext cx="2038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58E0D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COMPLIANCE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621E8-E630-48BD-8358-33833FE9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EA09D"/>
                </a:solidFill>
                <a:latin typeface="Arial"/>
                <a:ea typeface="Arial"/>
                <a:cs typeface="Arial"/>
              </a:rPr>
              <a:t>Canteen × Circle × Arc  /  September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BBAE0-61CE-4D34-8032-F3211179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66750"/>
            <a:ext cx="5619750" cy="5467350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3423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bfaff73c242a0"/>
          <a:stretch xmlns:a="http://schemas.openxmlformats.org/drawingml/2006/main"/>
        </p:blipFill>
        <p:spPr>
          <a:xfrm xmlns:a="http://schemas.openxmlformats.org/drawingml/2006/main">
            <a:off x="6191250" y="1118394"/>
            <a:ext cx="5200650" cy="36115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B90F0-3F3E-49D3-B2EF-7F987E91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435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1BD98-100D-4DD6-9367-A8032300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53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DETERMINISTIC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216A4-C841-48F1-B5A1-D360070C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197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explains. Policy authorizes. Arc proves.</a:t>
            </a:r>
          </a:p>
        </p:txBody>
      </p:sp>
    </p:spTree>
    <p:extLst>
      <p:ext uri="{BB962C8B-B14F-4D97-AF65-F5344CB8AC3E}">
        <p14:creationId xmlns:p14="http://schemas.microsoft.com/office/powerpoint/2010/main" val="1865459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3B8FD-C2CB-4C0A-AE54-4D8F0209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THE CONTROL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C49C7-5DAB-42B9-B426-5B930E04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Agents can move faster than finance can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67627-97A3-4090-8F29-C3338F1F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Accounts payable needs machine speed without surrendering financial authority.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E6EBB-BC90-4F3A-B9E7-1C6790D2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6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4CCAB-DA6B-48A6-B590-1936E247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F56C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6C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58269-4830-42B4-8547-226FE678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UNTRUSTED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33DCC-227E-4F6B-AFF0-D8C53E96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Invoices, emails, PDFs, prompts, and wallet-change requests can all carry conflicting or manipulated instructions.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93CB6-3EFE-4550-BC6A-827B1488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7C65C-3AB2-4455-B471-12732A15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2C1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7D504-C8E4-4777-904A-48107C0A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AMBIGUOUS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E7DAD-07BA-4B2E-886D-175EC078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model recommendation is useful context, but it cannot decide whether company funds are legally or operationally authorized.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1A300-B850-47CC-9189-E1D9E3CB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37019-F5DA-417A-B6AB-6F95B37D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A98B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98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B37E4-F33F-46FA-8A83-89795E55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WEAK SETTLEMENT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E48D6-5F40-466D-A778-D452CCE2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provider status alone does not prove the exact USDC transfer landed on the intended Arc network and recipient.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1F640-853C-4C35-82EF-851BFD3E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0FA9C-1FE6-48C4-9CF1-7FDC00DB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missing primitive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52F7F-2C98-4BF5-9822-8F6D7AA1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verifiable decision boundary between evidence and money movement.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5D274-8183-4AB4-AC2B-01B0E295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42F539-3AC1-45B3-BACB-F1C7ED8D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2729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A2400E-F75B-4E4D-8066-CB0F56D3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ONE BOUNDED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AB8EB-0CC5-4C76-BE5A-2494628D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source evidence to independently verified 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DA398-3586-4915-845F-D07694B9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Every step produces an immutable record. Every fund-moving action is revalidated.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B60C6-E7FD-4378-9252-F6A84471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F9E6E-6D38-48A2-BF87-D90E1098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406A9-9E13-49AD-824E-0DA86049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B35B8-F4CE-426D-A6FA-DE415578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PDF, image, or 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with field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ECD45-B48E-443A-AA34-6472AE06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EF443-6B46-4668-B6AE-114232BE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D9585-CEF8-4BAB-B4FF-D103A9B4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14DBE-47DD-4FA9-B082-62842511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13 deterministic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financial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FD340-5B20-43E1-B161-B47B9E45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DD5EA-0A19-4FC9-9374-6F4E10F1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88DBD-E6CD-4A6E-B057-71C13705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3D72B-C3A7-411D-BB09-B1847988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PAY, schedule, hold,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reject, or escalate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5AC33-E6FF-4016-BCE6-A564FB4C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28393-4A54-4887-B384-AFE70E22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DE46C-C1A4-46AA-AB85-057D1546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USDC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FB8D0-9319-4804-9C38-1CA8C8B6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Circle wallet 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idempotent intent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915DD-281A-4130-8D9C-90FCB65D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2381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00A4F-3933-49D2-9058-AC5844AE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93AB17-00B8-4B8A-ADC0-7E170A94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 on Arc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B5FC7-A1AB-487C-99CA-094E6E93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29050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Exact Transfer event,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network, asset, recipient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99820-9E47-443B-83F6-7A6DC3E2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8C77A4-660F-42B6-A3D0-96A76486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E9D292-23E1-4B69-B47C-E6AA1954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D83867-48AE-4A03-B5A1-2C958C16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85910-BAEC-4EA2-8250-38BEEE50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C14E"/>
                </a:solidFill>
                <a:latin typeface="Arial"/>
                <a:ea typeface="Arial"/>
                <a:cs typeface="Arial"/>
              </a:rPr>
              <a:t>AUTHORITY NEVER COMES FROM THE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D0873-BEFB-4FDA-BBE8-6D9FFAD4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AI may classify and explain. Deterministic controls, human approvals, and sealed records decide whether funds can move.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A81649-DDB7-4EF7-B5B0-744825E8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A0DF5E-D9FD-43E2-9C77-E981FECB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22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51ADA-BFA1-41D6-9049-21254D19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DETERMINISTIC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BA5F1-D176-45D7-B6CD-B8AE276B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The judge can inspect why an invoice is payable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59072-2EC5-482C-9B64-395CC214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result is replayable from sealed evidence, policy version, and treasury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C7732-EC6A-4B84-81BB-7C24BCB2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67246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450923ca34577"/>
          <a:srcRect xmlns:a="http://schemas.openxmlformats.org/drawingml/2006/main" l="0" t="33452" r="0" b="33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6457950" cy="3733800"/>
          </a:xfrm>
          <a:prstGeom xmlns:a="http://schemas.openxmlformats.org/drawingml/2006/main" prst="roundRect">
            <a:avLst>
              <a:gd name="adj" fmla="val 306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34591-1C9F-4DCD-AE43-BBEE96DC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B93B2-8ABF-4186-BCAA-73244DFD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02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CONTROLS CLEAR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E8862-6FAB-45B2-BA84-C4697FE3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Vendor, wallet, PO, delivery, route, limits, reserve, wallet-change cooldown, and timing.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29D0D-F93C-403E-909F-F6FA2090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0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SHA-256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C5CA6-1C4B-41EC-B744-63291A36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575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SOURCE BINDING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D5D78-554F-4A01-811A-E43B8B1F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433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decision carries the evidence manifest, policy hash, and replay snapshot.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E97A9-9A5E-4E81-81BA-32ECA7E6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4B246-F39E-45B7-A3A3-63703AAD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148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AI PAYMENT AUTHORITY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470DF-0EEC-4632-9DEE-87F027AD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006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agent can recommend and explain, but cannot set amount, recipient, or authorization.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AE593-E14B-4BA7-8872-AB6D27F3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B2582-DD19-44A8-9E41-B1A3AA4D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9045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ED3C8-8DC0-46C9-9C89-8436E916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AGENTIC SOPHISTICATION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1A530-354A-4B94-BFCE-7A67AC98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agent run. Every control rechecked.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CB392-F758-4EED-B0ED-8E9F8FFA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A durable plan hashes observed state and proposed actions before any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60918-2279-4B4B-95DE-80B03C84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1252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c7087452c4fd2"/>
          <a:stretch xmlns:a="http://schemas.openxmlformats.org/drawingml/2006/main"/>
        </p:blipFill>
        <p:spPr>
          <a:xfrm xmlns:a="http://schemas.openxmlformats.org/drawingml/2006/main">
            <a:off x="3080951" y="2152650"/>
            <a:ext cx="6030097" cy="348615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4693E-15D5-414B-A201-EED20A7C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9F5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8CD46-BE04-4065-A599-DD33890F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43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Policy-cleared payment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61935-581A-486E-A74B-932CCBE5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D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22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A22B8"/>
                </a:solidFill>
                <a:latin typeface="Arial"/>
                <a:ea typeface="Arial"/>
                <a:cs typeface="Arial"/>
              </a:rPr>
              <a:t>ROUTED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87901-95D5-4EA2-B509-565A421F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43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Segregated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3D4C0-0F82-487B-8A22-0CC0EE6D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8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4FB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4FB4"/>
                </a:solidFill>
                <a:latin typeface="Arial"/>
                <a:ea typeface="Arial"/>
                <a:cs typeface="Arial"/>
              </a:rPr>
              <a:t>SKIPPED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BF176-3158-4023-A674-EAC79A50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943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 and hold preserved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59765-B732-44D2-8EEB-ED4AE2FA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6F88C-40A3-473E-AB1A-2D82EC85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10512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F3E98-C5A3-4462-BFAE-B1F6E78E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NATIVE CONTROL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F0CB6-4445-4964-8DAF-B1F98211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Five outcomes. Only one grants immediate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payment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B8873-D9AC-46EC-AE53-8E60C8D1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decision engine fails closed and tells the operator exactly what happens next.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2247900"/>
          <a:ext xmlns:a="http://schemas.openxmlformats.org/drawingml/2006/main" cx="111252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952750"/>
                <a:gridCol w="4095750"/>
                <a:gridCol w="2457450"/>
              </a:tblGrid>
              <a:tr h="584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TRIGGER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SYSTEM ACTION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WHO CAN RELEASE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PAY</a:t>
                      </a:r>
                    </a:p>
                  </a:txBody>
                  <a:tcPr marL="114300" marR="114300" marT="95250" marB="95250">
                    <a:solidFill>
                      <a:srgbClr val="B9F5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All mandatory controls pass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Create an idempotent payment intent and settle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Policy engine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SCHEDULE</a:t>
                      </a:r>
                    </a:p>
                  </a:txBody>
                  <a:tcPr marL="114300" marR="114300" marT="95250" marB="95250">
                    <a:solidFill>
                      <a:srgbClr val="D8E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Valid invoice, future payment window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Wait, then revalidate against current policy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Policy engine at due time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HOLD</a:t>
                      </a:r>
                    </a:p>
                  </a:txBody>
                  <a:tcPr marL="114300" marR="114300" marT="95250" marB="95250">
                    <a:solidFill>
                      <a:srgbClr val="FFF0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Evidence, wallet, or treasury risk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Block settlement and request remediation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Operator after correction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REJECT</a:t>
                      </a:r>
                    </a:p>
                  </a:txBody>
                  <a:tcPr marL="114300" marR="114300" marT="95250" marB="95250">
                    <a:solidFill>
                      <a:srgbClr val="FF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Duplicate or prohibited condition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Permanently deny this payment request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No automatic release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ESCALATE</a:t>
                      </a:r>
                    </a:p>
                  </a:txBody>
                  <a:tcPr marL="114300" marR="114300" marT="95250" marB="95250">
                    <a:solidFill>
                      <a:srgbClr val="E4D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Valid evidence above autonomy limit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Bind a separate human approval to the intent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Independent approver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04E20-DB4E-41A3-97DD-2E67A78C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Editable control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FE190-579E-4D90-AC4A-BD3F3513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05500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Non-PAY outcomes never call the settlement provider.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E09D6-67C2-4C1D-95BE-2D6DDC27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19909-B0CC-4709-AA62-DF05A50F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8957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C2C5D-8924-4EFB-A4B0-26C5BA61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CIRCLE AND ARC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0F5E4-980B-49FA-9B7A-66AB6CB0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Settlement is accepted only after independent Arc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36F6B-F50F-4A59-B4B5-7B8E52C8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Provider completion is necessary, then TallyGuard verifies the exact onchain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31DD8-0B66-49B3-B8A0-BD435301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0444D-19F7-4C8C-ADFC-BB9A895B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738D6-78EC-4D37-A65E-BF1F2178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PAY intent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75FBF-3CA6-4C2C-88B1-EF0AADB4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Sealed amount, recipient, asset, network, idempotency key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7C53F-9B9A-430F-953A-CBEA70E0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1094D-318B-42E6-8EED-05A97EED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C1A17-2582-4FCC-AAB0-433C1C45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Circle wallet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1C117-E0AA-46C9-B244-B0876A6A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Submit USDC transfer and poll provider lifecycle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E1885-E0F4-43DF-A7D1-A8AEB66D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4BC14-982E-4268-B99D-E6E17755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EE8BC-C69A-49AE-981F-F46F2370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Arc RPC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AA04B-2D16-41D0-B145-FE6FDCBC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Fetch the transaction receipt from the expected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E5726-3A32-40E7-BD14-7CB91B15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30861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4AA79-4760-481C-B408-8FE7DF68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9F5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F8A36-341F-4B25-8019-A25E58E3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Exact Transfer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1A672-8FAC-425E-8AD6-95A8F10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29050"/>
            <a:ext cx="2743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Match contract, topic, sender, recipient, amount, and 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267B3-AAB2-47BC-9FB0-816F351E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C9B4F-FDAB-47E2-9637-D05B8E72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8458C-1B4A-499C-8155-96B27495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D86A5-3264-4F36-897E-0B9902BD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858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7F4"/>
          </a:solidFill>
          <a:ln xmlns:a="http://schemas.openxmlformats.org/drawingml/2006/main" w="9525">
            <a:solidFill>
              <a:srgbClr val="A9DA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8F5FBB-DCCA-4F27-8145-C3C599E3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CURRENT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14909-FD08-4E5F-8C1A-8C167B1A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908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Adapter, offline verifier, and isolated wallet-pair setup are ready. Credentials and funded Testnet USDC remain the external gate.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C4AA8-FB02-4CE2-A9EC-00D9F800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BA8A51-193A-4D8C-945F-EC04FAD4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63197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7EB7A-97B2-4D3B-9D99-F0C5DA1A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CHECKED-IN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56E5A-147E-46ED-B073-1BE2E290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safety invariants survive concurrency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4FFF4-47F3-4494-861C-FB159E81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Two stress suites plus a production-shaped HTTP gate ship as content-addressed reports.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E82CC-68F7-47A2-A862-FA31DFAA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11252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5e97ade4047c2"/>
          <a:stretch xmlns:a="http://schemas.openxmlformats.org/drawingml/2006/main"/>
        </p:blipFill>
        <p:spPr>
          <a:xfrm xmlns:a="http://schemas.openxmlformats.org/drawingml/2006/main">
            <a:off x="2478980" y="2057400"/>
            <a:ext cx="723404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0D81A-4D49-4318-A77A-6DC9B000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10,000 / 10,000 workflows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7AB76-4349-419A-91D9-C57C523F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962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200 retries · 500 ms → 1 submit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D9835-FC04-46E6-AB5D-F69CE55A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9626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100 / 100 tenant breaches denied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D170B-86CB-4DBD-993F-A2D14ABE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62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8 / 8 deployment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2402B-BE49-46AA-A6C2-3C308169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E52FA-B88B-4768-A2D5-9E68838D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063472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9C5922-30F6-4F22-A5DD-71344B23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TRACTION WITHOUT THEATER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6EB39-163A-46A3-BBA8-FCF9E5FD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Turn one real AP workflow into judge-verifiable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A8605-9A83-4E4B-A221-BD1980B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pilot binds real operator behavior to a verified Payment Evidence Packet.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700E5-B2C9-4954-B132-72A32F3B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C81D6-FFFB-443D-BCBE-D86B5242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895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24AA5-1292-41E4-9F21-3437F3E7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Self-operated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A47CA-078E-4AE8-AEDF-1260CE9E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Run an actual invoice, PO, delivery record, wallet, and treasury snapshot through the product.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8DB33-16BE-4046-B3CF-6529DB9F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DC320-443E-4140-9C60-4CFF72B5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97C69-E455-4B0F-8E5D-76E3A3B3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Attestation hash, packet hash, operator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3199D-8349-46C7-808F-F05EE392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CBEEF-1151-4BD7-9EFC-6825D617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895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3702E-A871-4EFA-90AC-91CD5349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External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DC34C-4CC7-4EA2-9514-01976727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Ask 2–3 finance or crypto operators to complete the judge path and record structured feedback.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10DA2-6632-4480-84D1-16A1B4FA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5E5AD-04D2-4F09-BAA3-58C7F371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D47C4-FB39-4542-94FF-09C2F263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Completion rate, time to decision, risk 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75193-C71B-470B-B5C6-CD12E5AA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C6BC2-E0A2-4529-ABC6-F0D4FAF3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BEFORE SUBMISSION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68AC2-ED08-47C9-B288-D920CA87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Real Arc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C4AE1F-4865-4972-BB7A-1AC4F222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Execute a capped Testnet transfer, reconcile the receipt, and publish the proof packet and demo clip.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56F67-ABAA-4269-80E6-B9B1F738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402D0-1B45-47CB-A3A9-93FAB707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0E66D-783E-444E-94E0-830F1E5D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Circle status, Arc transaction, exact Transfer match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D9969-FDD4-4694-AE5F-B2D767A2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52FE0D-2E73-460B-BEF6-44293AB7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186859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8E29D-AE9D-4894-855A-30C3F07B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TALLYGUARD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44BA1-1C04-4FAB-99E1-A01BC9F0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5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the evidence.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5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Automate the 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81332-6516-40D8-81BE-C3CA1879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4514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One responsive finance control plane for Circle USDC on Arc — desktop-first, operable at 390 px.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98F74-A43C-4C0E-9484-39F3A075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0764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ONE RESPONSIVE WEB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3F590-096A-417F-ABDA-7C0F31C7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Same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68E0D-A4F2-4C3C-B057-69202580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48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Same 13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87D6D-659F-4AD2-B179-3561439C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481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Same Arc settlement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1F2D5-12BA-4382-BB21-3AF74398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AB236-52C3-40C7-9421-270FF801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8EB10-F65D-4830-BC30-3859EC4C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Multi-tenant controls · bounded agent runs · offline verifier · stress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20496-2CB7-4073-A26A-15BB145C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2C14E"/>
                </a:solidFill>
                <a:latin typeface="Arial"/>
                <a:ea typeface="Arial"/>
                <a:cs typeface="Arial"/>
              </a:rPr>
              <a:t>NEXT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6FA92-6A80-4FF5-8DC9-DC636749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02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Capped Arc Testnet transfer + external operator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C326F-87B3-462D-B189-4125614D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800100"/>
            <a:ext cx="5962650" cy="4781550"/>
          </a:xfrm>
          <a:prstGeom xmlns:a="http://schemas.openxmlformats.org/drawingml/2006/main" prst="roundRect">
            <a:avLst>
              <a:gd name="adj" fmla="val 2390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710B5-7386-4AC7-A691-5A351E59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990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DESKTOP  /  1440 PX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1352e14d34d47"/>
          <a:srcRect xmlns:a="http://schemas.openxmlformats.org/drawingml/2006/main" l="35" t="0" r="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1276350"/>
            <a:ext cx="5391150" cy="337185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0C62D-5FD5-4149-814A-C7761179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19350"/>
            <a:ext cx="1676400" cy="33147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409a16c434dbd"/>
          <a:srcRect xmlns:a="http://schemas.openxmlformats.org/drawingml/2006/main" l="0" t="2664" r="0" b="26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2476500"/>
            <a:ext cx="1562100" cy="32004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F243F4-E024-47B0-BB12-6AD2F073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1276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91718"/>
          </a:solidFill>
          <a:ln xmlns:a="http://schemas.openxmlformats.org/drawingml/2006/main" w="9525">
            <a:solidFill>
              <a:srgbClr val="58E0D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MOBILE  /  390 PX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16674-6BA2-4ADC-BC30-8659D54A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4825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The decision remains inspectable without horizontal overflow.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0AC4AD-1B77-4FE1-B0F0-823112BD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924550"/>
            <a:ext cx="539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EA09D"/>
                </a:solidFill>
                <a:latin typeface="Arial"/>
                <a:ea typeface="Arial"/>
                <a:cs typeface="Arial"/>
              </a:rPr>
              <a:t>Submission deadline  ·  October 10, 2026 11:59 PM 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7B584-119D-4B5E-A411-1A9CEA98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00AB5-8257-445C-972B-4F9D1EE9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6681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2026-09-20T06:00:45.1950000Z</dcterms:created>
  <dcterms:modified xsi:type="dcterms:W3CDTF">2026-09-20T06:00:45.1950000Z</dcterms:modified>
</coreProperties>
</file>