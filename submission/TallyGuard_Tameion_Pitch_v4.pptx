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f929f8b48e4bf3" /><Relationship Type="http://schemas.openxmlformats.org/officeDocument/2006/relationships/extended-properties" Target="/docProps/app.xml" Id="R0c711f156f0f413e" /><Relationship Type="http://schemas.openxmlformats.org/officeDocument/2006/relationships/officeDocument" Target="/ppt/presentation.xml" Id="Rd78d42197bc44a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eb840b24c94305"/>
  </p:sldMasterIdLst>
  <p:notesMasterIdLst>
    <p:notesMasterId xmlns:r="http://schemas.openxmlformats.org/officeDocument/2006/relationships" r:id="Ra492349c7e3548bf"/>
  </p:notesMasterIdLst>
  <p:sldIdLst>
    <p:sldId xmlns:r="http://schemas.openxmlformats.org/officeDocument/2006/relationships" id="256" r:id="Rb5cd961b5d674eaa"/>
    <p:sldId xmlns:r="http://schemas.openxmlformats.org/officeDocument/2006/relationships" id="257" r:id="R9033e11e70124980"/>
    <p:sldId xmlns:r="http://schemas.openxmlformats.org/officeDocument/2006/relationships" id="258" r:id="R5e07bfac31c641f2"/>
    <p:sldId xmlns:r="http://schemas.openxmlformats.org/officeDocument/2006/relationships" id="259" r:id="Rd41cf4519a68433c"/>
    <p:sldId xmlns:r="http://schemas.openxmlformats.org/officeDocument/2006/relationships" id="260" r:id="Rd2fefccdab9f4ec0"/>
    <p:sldId xmlns:r="http://schemas.openxmlformats.org/officeDocument/2006/relationships" id="261" r:id="R41bc6e53f19a41ca"/>
    <p:sldId xmlns:r="http://schemas.openxmlformats.org/officeDocument/2006/relationships" id="262" r:id="R061adeabd2da4df2"/>
    <p:sldId xmlns:r="http://schemas.openxmlformats.org/officeDocument/2006/relationships" id="263" r:id="R1066a379100b4ea5"/>
    <p:sldId xmlns:r="http://schemas.openxmlformats.org/officeDocument/2006/relationships" id="264" r:id="R200a42d14d07414e"/>
    <p:sldId xmlns:r="http://schemas.openxmlformats.org/officeDocument/2006/relationships" id="265" r:id="R7b762f68bf004b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1aa51f8d9b4697" /><Relationship Type="http://schemas.openxmlformats.org/officeDocument/2006/relationships/slideMaster" Target="/ppt/slideMasters/slideMaster1.xml" Id="Rf7eb840b24c94305" /><Relationship Type="http://schemas.openxmlformats.org/officeDocument/2006/relationships/notesMaster" Target="/ppt/notesMasters/notesMaster1.xml" Id="Ra492349c7e3548bf" /><Relationship Type="http://schemas.openxmlformats.org/officeDocument/2006/relationships/presProps" Target="/ppt/presProps.xml" Id="R8cbba733811a4579" /><Relationship Type="http://schemas.openxmlformats.org/officeDocument/2006/relationships/tableStyles" Target="/ppt/tableStyles.xml" Id="R9e0d6f04ae3c4db4" /><Relationship Type="http://schemas.openxmlformats.org/officeDocument/2006/relationships/slide" Target="/ppt/slides/slide1.xml" Id="Rb5cd961b5d674eaa" /><Relationship Type="http://schemas.openxmlformats.org/officeDocument/2006/relationships/slide" Target="/ppt/slides/slide2.xml" Id="R9033e11e70124980" /><Relationship Type="http://schemas.openxmlformats.org/officeDocument/2006/relationships/slide" Target="/ppt/slides/slide3.xml" Id="R5e07bfac31c641f2" /><Relationship Type="http://schemas.openxmlformats.org/officeDocument/2006/relationships/slide" Target="/ppt/slides/slide4.xml" Id="Rd41cf4519a68433c" /><Relationship Type="http://schemas.openxmlformats.org/officeDocument/2006/relationships/slide" Target="/ppt/slides/slide5.xml" Id="Rd2fefccdab9f4ec0" /><Relationship Type="http://schemas.openxmlformats.org/officeDocument/2006/relationships/slide" Target="/ppt/slides/slide6.xml" Id="R41bc6e53f19a41ca" /><Relationship Type="http://schemas.openxmlformats.org/officeDocument/2006/relationships/slide" Target="/ppt/slides/slide7.xml" Id="R061adeabd2da4df2" /><Relationship Type="http://schemas.openxmlformats.org/officeDocument/2006/relationships/slide" Target="/ppt/slides/slide8.xml" Id="R1066a379100b4ea5" /><Relationship Type="http://schemas.openxmlformats.org/officeDocument/2006/relationships/slide" Target="/ppt/slides/slide9.xml" Id="R200a42d14d07414e" /><Relationship Type="http://schemas.openxmlformats.org/officeDocument/2006/relationships/slide" Target="/ppt/slides/slide10.xml" Id="R7b762f68bf004b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aac58a8235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09b0e793364ebc" /><Relationship Type="http://schemas.openxmlformats.org/officeDocument/2006/relationships/notesMaster" Target="/ppt/notesMasters/notesMaster1.xml" Id="R778ff66ecb6640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d2958778cb4da9" /><Relationship Type="http://schemas.openxmlformats.org/officeDocument/2006/relationships/notesMaster" Target="/ppt/notesMasters/notesMaster1.xml" Id="R54a57c92cea74c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82fb9f048644d8" /><Relationship Type="http://schemas.openxmlformats.org/officeDocument/2006/relationships/notesMaster" Target="/ppt/notesMasters/notesMaster1.xml" Id="R6fa6f8a45ef14f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9bd3f5ef684f12" /><Relationship Type="http://schemas.openxmlformats.org/officeDocument/2006/relationships/notesMaster" Target="/ppt/notesMasters/notesMaster1.xml" Id="R565832dd0334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0957d9e4524514" /><Relationship Type="http://schemas.openxmlformats.org/officeDocument/2006/relationships/notesMaster" Target="/ppt/notesMasters/notesMaster1.xml" Id="Rb0e7f2b19f5046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379f634f1a415d" /><Relationship Type="http://schemas.openxmlformats.org/officeDocument/2006/relationships/notesMaster" Target="/ppt/notesMasters/notesMaster1.xml" Id="R87d6a892d2244f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ac7d97a8474de4" /><Relationship Type="http://schemas.openxmlformats.org/officeDocument/2006/relationships/notesMaster" Target="/ppt/notesMasters/notesMaster1.xml" Id="R78b635d734a547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d83639d6334582" /><Relationship Type="http://schemas.openxmlformats.org/officeDocument/2006/relationships/notesMaster" Target="/ppt/notesMasters/notesMaster1.xml" Id="Rc34642c60ad44b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a34576b9dd4331" /><Relationship Type="http://schemas.openxmlformats.org/officeDocument/2006/relationships/notesMaster" Target="/ppt/notesMasters/notesMaster1.xml" Id="R87ea8192e79341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ff61582d9c4060" /><Relationship Type="http://schemas.openxmlformats.org/officeDocument/2006/relationships/notesMaster" Target="/ppt/notesMasters/notesMaster1.xml" Id="R5e7f31c88b1d4a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screenshot: local TallyGuard judge workspace. Project sources: docs/HACKATHON_CONTEXT.md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derived from docs/SECURITY_MODEL.md and docs/BACKEND_PRODUCT_SPEC.md. No market-size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docs/ARCHITECTURE.md. Settlement source: docs/CIRCLE_ARC_SETTLEMENT.md.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Supporting implementation: src/tallyguard/decisions.py, src/tallyguard/policies.py, src/tallyguard/evidence.py.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Implementation: src/tallyguard/autonomy.py and src/tallyguard/persistence.py. The execution lease prevents multiple workers from executing the same durable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semantics are implemented in src/tallyguard/models.py, src/tallyguard/policy.py, and src/tallyguard/autonomy.py.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src/tallyguard/circle_arc.py and src/tallyguard/settlement.py. Technical reference: docs/CIRCLE_ARC_SETTLEMENT.md. The slide intentionally labels the real Testnet transfer as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docs/reports/load-test-10000.json and docs/reports/agent-run-load-50.json. These are synthetic engineering tests, not customer traction. Settlement used the deterministic Arc simulator and moved no funds.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honest traction plan for the current build. Synthetic reliability data remains separately labeled. Deadline source: docs/HACKATHON_CONTEXT.md.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 information: https://tameion.thecanteenapp.com/ and docs/HACKATHON_CONTEXT.md. GitHub and live-demo links should be added only after the user approves publication and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dbf7b4ad741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4dcae3d33d4f46" /><Relationship Type="http://schemas.openxmlformats.org/officeDocument/2006/relationships/slideLayout" Target="/ppt/slideLayouts/slideLayout1.xml" Id="Rfad5fbc2933344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5fbc2933344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18dacc9bf4723" /><Relationship Type="http://schemas.openxmlformats.org/officeDocument/2006/relationships/image" Target="/ppt/media/image.png" Id="R7170654a25cc4b44" /><Relationship Type="http://schemas.openxmlformats.org/officeDocument/2006/relationships/notesSlide" Target="/ppt/notesSlides/notesSlide1.xml" Id="Re8433643124e44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011cff3a5441d" /><Relationship Type="http://schemas.openxmlformats.org/officeDocument/2006/relationships/notesSlide" Target="/ppt/notesSlides/notesSlide2.xml" Id="Re96ee517bb5249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8c76d38dc498a" /><Relationship Type="http://schemas.openxmlformats.org/officeDocument/2006/relationships/notesSlide" Target="/ppt/notesSlides/notesSlide3.xml" Id="R4423af1e9cff47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e70bc3b93436d" /><Relationship Type="http://schemas.openxmlformats.org/officeDocument/2006/relationships/image" Target="/ppt/media/image2.png" Id="Rfb4be792fa174d95" /><Relationship Type="http://schemas.openxmlformats.org/officeDocument/2006/relationships/notesSlide" Target="/ppt/notesSlides/notesSlide4.xml" Id="R9ea33f991a4449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cfdbeb0344372" /><Relationship Type="http://schemas.openxmlformats.org/officeDocument/2006/relationships/image" Target="/ppt/media/image3.png" Id="Rf053677defae4325" /><Relationship Type="http://schemas.openxmlformats.org/officeDocument/2006/relationships/notesSlide" Target="/ppt/notesSlides/notesSlide5.xml" Id="R7a598eddd6d642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4a715010346b9" /><Relationship Type="http://schemas.openxmlformats.org/officeDocument/2006/relationships/notesSlide" Target="/ppt/notesSlides/notesSlide6.xml" Id="Rc333c86ccfcb41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33feb9f0242db" /><Relationship Type="http://schemas.openxmlformats.org/officeDocument/2006/relationships/notesSlide" Target="/ppt/notesSlides/notesSlide7.xml" Id="R828a521b7e5e4c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799f30a6b4666" /><Relationship Type="http://schemas.openxmlformats.org/officeDocument/2006/relationships/image" Target="/ppt/media/image4.png" Id="R106e4c6122474003" /><Relationship Type="http://schemas.openxmlformats.org/officeDocument/2006/relationships/notesSlide" Target="/ppt/notesSlides/notesSlide8.xml" Id="Refe2d634ff1040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1654645d24426" /><Relationship Type="http://schemas.openxmlformats.org/officeDocument/2006/relationships/notesSlide" Target="/ppt/notesSlides/notesSlide9.xml" Id="R9e93afc2038a4c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806fc92754481" /><Relationship Type="http://schemas.openxmlformats.org/officeDocument/2006/relationships/notesSlide" Target="/ppt/notesSlides/notesSlide10.xml" Id="Re6b1a25c2b1c43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73AF5-4E6B-46B1-A3F0-FEE4AA69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40520-3B10-439A-8ADE-0EB4063F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 before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4FF0B-1BC6-4BF3-B9D4-AFC610EE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Evidence-bound autonomous accounts payable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for AI-operated businesses on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AF119-1234-4F05-9A1A-59594817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2781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PRIMARY RFB  ·  AP / AR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FB13B-E6D6-4864-900B-2B75E57B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2038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58E0D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COMPLIANCE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4FEA2-80C8-4739-99B6-8F9822F8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Canteen × Circle × Arc  /  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3AA09-A075-492C-B80B-206709C6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66750"/>
            <a:ext cx="5619750" cy="5467350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3423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0654a25cc4b44"/>
          <a:stretch xmlns:a="http://schemas.openxmlformats.org/drawingml/2006/main"/>
        </p:blipFill>
        <p:spPr>
          <a:xfrm xmlns:a="http://schemas.openxmlformats.org/drawingml/2006/main">
            <a:off x="6191250" y="1118394"/>
            <a:ext cx="5200650" cy="36115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91F35-4B0D-4098-9BE6-579EAC15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435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CBF19-E9B3-4188-A848-6298EC04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53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DETERMINISTIC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DA3CA-E6EA-4721-BD50-2CAB56DE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97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explains. Policy authorizes. Arc proves.</a:t>
            </a:r>
          </a:p>
        </p:txBody>
      </p:sp>
    </p:spTree>
    <p:extLst>
      <p:ext uri="{BB962C8B-B14F-4D97-AF65-F5344CB8AC3E}">
        <p14:creationId xmlns:p14="http://schemas.microsoft.com/office/powerpoint/2010/main" val="785195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5EE78-C9E8-43BA-A728-83D320A1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THE CONTROL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6EF19-FA5D-4F65-90EB-799D684D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Agents can move faster than finance can verify.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F7FC7-C4CD-47E2-BF17-4E7CA392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Accounts payable needs machine speed without surrendering financial authority.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7953E-0EA5-49E9-BBC2-A27A6A07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6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6C9FB-04BF-45B0-8A97-6EAF3881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56C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6C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96C95-C537-4EB4-9711-F8094427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UNTRUSTED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5EC1E-F256-41F1-A8D4-778A209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Invoices, emails, PDFs, prompts, and wallet-change requests can all carry conflicting or manipulated instructions.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8AAD-E900-4916-AF94-AA7BF9DF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6079C-038A-40E2-9028-049357DB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C1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B98AE-DFF2-44E2-9E80-AE6B320A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AMBIGUOUS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DE911-E15E-42A4-9E42-2B86EB6C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model recommendation is useful context, but it cannot decide whether company funds are legally or operationally authorized.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4FA2D-D309-443C-A706-809D7BF6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60860-1341-41D7-BC63-D4CB1176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A98B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98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A428E-6B50-4373-A120-96AEEBAB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WEAK SETTLEMENT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8BA51-C5E3-42B1-BE3F-9523816E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provider status alone does not prove the exact USDC transfer landed on the intended Arc network and recipient.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8B869-0C9D-4788-9B3C-875B79E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CFF73-C3B1-4991-9CE1-1883D7AE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missing primitive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63600-B682-4093-85CE-4035A171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verifiable decision boundary between evidence and money movement.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24322-322D-4D3F-A25D-D707670F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47BAA-09EF-44C1-8738-C688D5C6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5522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64EAA-1174-4040-9E79-E068ABD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ONE BOUNDED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00866-75D8-482A-991E-BB16E8B0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source evidence to independently verified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EA999-1F2C-46B5-AFD8-B4BE4F98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Every step produces an immutable record. Every fund-moving action is revalidated.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12544-895F-4A51-AAFE-4E3C90A1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1634E-ADDA-4C43-BE3A-4299139E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B855B-D51F-446C-A53C-89DC60E3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A1E95-D09E-4D99-9A6A-1B2D2806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PDF, image, or 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with field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60383-B0C2-474C-A36E-97F1A525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04272-3E95-40BF-A4D6-80CAEA87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72154-686B-4AC3-971F-6FAEF331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BBDF7-CFC2-4338-B7B1-1A800D9F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13 deterministic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financial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28914-6091-4A19-ADED-FD46F035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26741-3C38-45CB-8AA0-E20694C2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DF7FE-FE95-4D2A-990C-145C145A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E8F04-348E-40CE-825B-599E9A02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PAY, schedule, hold,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reject, or escalate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62750-748A-4310-99F9-127CD0C3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44769-BEBC-475B-BD4D-CF0D898C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E0807-E4FC-42FD-B399-D8353C0E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USDC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415BA-C7C3-49CC-8FD4-AA00551D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Circle wallet 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idempotent 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F4B32-6389-4509-94A4-497178F2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C59F5-8E42-4FE3-9D5C-E841246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D01F4-5A97-4BB7-ACA6-567BF429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 on Arc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DEF6B-6751-4412-86F8-DD1EB6AF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Exact Transfer event,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network, asset, recipient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B8ACB4-8986-4657-8861-CCD699C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D0065-8A40-4C30-81ED-0F7FCF61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41D46-3C64-4FB7-B108-F60B861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13538A-CDBF-4DC1-A8D0-9EBF419D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E47B7-4D3E-4C15-94DE-E5BE1DDC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AUTHORITY NEVER COMES FROM THE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2DC669-A2F8-4B32-8945-CD13EB3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AI may classify and explain. Deterministic controls, human approvals, and sealed records decide whether funds can move.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BA98A1-739B-47C4-A5CF-AB0271D7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CC05D8-92E0-44C8-B56E-AEA47318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9681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1DE6B-C260-4113-9E0C-3BAE552E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DETERMINISTIC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3E574-03DF-436A-A138-019367B2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The judge can inspect why an invoice is payable.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82A01-5BB2-423A-801D-AC31953A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result is replayable from sealed evidence, policy version, and treasury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7D592-FECF-4977-B265-A49F191A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67246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be792fa174d95"/>
          <a:srcRect xmlns:a="http://schemas.openxmlformats.org/drawingml/2006/main" l="0" t="29142" r="0" b="29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6457950" cy="373380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171A1-D2B2-40BA-854D-ACD00044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D17AC-E050-4C51-9FA0-833D0B46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02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CONTROLS CLEAR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7550F-3307-457A-AE0D-6ED36AD3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Vendor, wallet, PO, delivery, route, limits, reserve, wallet-change cooldown, and timing.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A426F-A0B0-4998-AD27-129F017D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4E2DB-5A86-489F-A1B0-7420375B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575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SOURCE BINDING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D2EBB-CB8E-4052-B324-75BEA6C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carries the evidence manifest, policy hash, and replay snapshot.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E3AB0-9E9F-4D67-9B76-1C99768E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A0992-3AAB-4DD3-9290-A5E2C968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14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AI PAYMENT 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D31BE-F2BA-4350-97C0-E0A46C02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006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agent can recommend and explain, but cannot set amount, recipient, or authorization.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25719-2CB2-4E71-BB4D-3B2789FB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2DBC0-4DC9-4712-B76A-4E502841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11038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06FDD-FA88-4C9D-BA32-B2A841CB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AGENTIC SOPHISTICATION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38FA9-9D64-4D80-B2C5-D6213B88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agent run. Every control rechecked.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43D06-3D0C-49FE-91EE-E4AFF9D6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A durable plan hashes observed state and proposed actions before any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4FB35-660C-4546-96A3-992FE84D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3677defae4325"/>
          <a:stretch xmlns:a="http://schemas.openxmlformats.org/drawingml/2006/main"/>
        </p:blipFill>
        <p:spPr>
          <a:xfrm xmlns:a="http://schemas.openxmlformats.org/drawingml/2006/main">
            <a:off x="3080951" y="2152650"/>
            <a:ext cx="6030097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A7AF6-0A10-4FE4-AC2C-843B54E2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3EBAB-E238-4A02-A6B5-982B1002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Policy-cleared 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F5356-305A-4D7C-9347-B1499D19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D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22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A22B8"/>
                </a:solidFill>
                <a:latin typeface="Arial"/>
                <a:ea typeface="Arial"/>
                <a:cs typeface="Arial"/>
              </a:rPr>
              <a:t>ROUTED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50E2A-2298-4083-A5EE-23B2E711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Segregated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C43F5-0E20-42E0-BFF5-0D044E13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8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4FB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4FB4"/>
                </a:solidFill>
                <a:latin typeface="Arial"/>
                <a:ea typeface="Arial"/>
                <a:cs typeface="Arial"/>
              </a:rPr>
              <a:t>SKIPPED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FF471-3540-48BD-8F34-C7A37176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43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 and hold preserved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0EC2D-F72B-4AE9-A27C-5251681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A3F58-67E7-4D54-B39A-89CB4747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37334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0035C-5492-468D-A583-DF68ECA9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NATIVE CONTROL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94AC8-82AF-42DB-8F25-35F28F13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Five outcomes. Only one grants immediate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payment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D19D3-31BF-4B94-857F-1754A0DA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engine fails closed and tells the operator exactly what happens next.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2247900"/>
          <a:ext xmlns:a="http://schemas.openxmlformats.org/drawingml/2006/main" cx="111252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952750"/>
                <a:gridCol w="4095750"/>
                <a:gridCol w="2457450"/>
              </a:tblGrid>
              <a:tr h="584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SYSTEM ACTION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WHO CAN RELEASE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PAY</a:t>
                      </a:r>
                    </a:p>
                  </a:txBody>
                  <a:tcPr marL="114300" marR="114300" marT="95250" marB="95250">
                    <a:solidFill>
                      <a:srgbClr val="B9F5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All mandatory controls pass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Create an idempotent payment intent and settle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SCHEDULE</a:t>
                      </a:r>
                    </a:p>
                  </a:txBody>
                  <a:tcPr marL="114300" marR="114300" marT="95250" marB="95250">
                    <a:solidFill>
                      <a:srgbClr val="D8E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invoice, future payment window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Wait, then revalidate against current policy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 at due time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</a:p>
                  </a:txBody>
                  <a:tcPr marL="114300" marR="114300" marT="95250" marB="95250">
                    <a:solidFill>
                      <a:srgbClr val="FFF0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Evidence, wallet, or treasury risk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Block settlement and request remediation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Operator after correction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REJECT</a:t>
                      </a:r>
                    </a:p>
                  </a:txBody>
                  <a:tcPr marL="114300" marR="114300" marT="95250" marB="95250">
                    <a:solidFill>
                      <a:srgbClr val="FF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Duplicate or prohibited condition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Permanently deny this payment request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No automatic release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ESCALATE</a:t>
                      </a:r>
                    </a:p>
                  </a:txBody>
                  <a:tcPr marL="114300" marR="114300" marT="95250" marB="95250">
                    <a:solidFill>
                      <a:srgbClr val="E4D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evidence above autonomy limit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Bind a separate human approval to the intent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Independent approver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E5A79-9335-41D3-B815-9E6B4FA6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Editable control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3D91A-35B3-4AE2-9AA0-1398C400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Non-PAY outcomes never call the settlement provider.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711CE-1D4D-4D1A-9D42-90291644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84BBD-5C99-4E09-91EB-DF6F1CBC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1137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4D005A-92C2-4DAA-A065-001F6330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CIRCLE AND 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2FEA4-0E7C-4A48-9208-F7ADD192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Settlement is accepted only after independent Arc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verification.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E107C-D3CC-4651-B6F5-87471042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Provider completion is necessary, then TallyGuard verifies the exact onchain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EE578-6DCA-486F-B8A2-B6BB4305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5917C-BFD8-41C9-A9ED-A1D43C5B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0E0AB-F9E7-448B-846B-F678AA66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PAY intent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3ADF3-6CAC-4967-905E-FFD72091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Sealed amount, recipient, asset, network, idempotency 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E8D2E-EDA7-4F75-8CA7-AB89F940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727BD-CBF0-4832-AD49-FCFE6607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0B07B-2C21-4474-9C6F-DEF175F5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wallet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5D83A-6B6A-4CDB-8D9B-5E2B04D3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Submit USDC transfer and poll provider 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78D3D-2E76-41BC-B8E1-D945DBC6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CA7DA-554E-4E1E-BE69-796BA3A8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32D00-4863-4899-9057-83C39B09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Arc RPC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C828C-604A-4308-930C-3429D315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Fetch the transaction receipt from the expected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53B36-2FAC-4172-A28A-BDDCE487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30861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57B09-544E-4E88-9AD1-ECB1547C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B48A2-7B48-4311-8A91-89E8F5BD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Exact Transfer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BC5C0-0A0D-4157-9314-D11DCA43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743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Match contract, topic, sender, recipient, amount, and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8373F-55F0-42B2-B7E0-2CC19A51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B51A0-9EE0-437E-B8E1-78F4BBF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E91334-60D8-4321-BBB3-F11C47D1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5CC8B-578A-4B2B-8515-CA58B4E6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9525">
            <a:solidFill>
              <a:srgbClr val="A9DA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3503B-0895-41E5-B8DE-2EEA948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CURRENT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9EDED-142F-44C2-AB40-B077E88E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908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Adapter and verifier are implemented. A real Arc Testnet USDC transfer remains the next external acceptance test.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616DE-872C-433A-9B2C-AD78A700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53CAE-4CE6-4F5E-BC8F-F64920E4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6040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812C2-B65A-41FE-AFEF-64FA8E20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CHECKED-IN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B7CB3-F8C9-42A7-B82F-2F574B61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safety invariants survive concurrency.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22E26-3029-417A-9621-E6DA3FD8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Two reproducible HTTP stress suites ship with immutable JSON reports.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D26AB-F261-44C5-918D-83570DF8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11252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e4c6122474003"/>
          <a:stretch xmlns:a="http://schemas.openxmlformats.org/drawingml/2006/main"/>
        </p:blipFill>
        <p:spPr>
          <a:xfrm xmlns:a="http://schemas.openxmlformats.org/drawingml/2006/main">
            <a:off x="2478980" y="2057400"/>
            <a:ext cx="723404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652DD-E75C-48D3-A688-D3C66FD7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10,000 / 10,000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FDA02-5F89-4A08-BD67-F6DCE75C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62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 duplicate payments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11DD1-C450-44FD-9151-88022772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9626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100 / 100 tenant breaches denied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244EF-98A0-45B4-929A-629F405C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62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100 contenders → 1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4B917-0FEF-46C1-A079-50AE0F31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076C4-D0D8-44D2-BF3B-98B58CAA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69220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937449-D809-4D9B-9B26-5AF7ACEA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TRACTION WITHOUT THEATER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C2A77-9E3C-4346-865B-02CD3357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Turn one real AP workflow into judge-verifiable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31BBB-64FC-4C74-9F15-90F2C78C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We will not label generated traffic as users. The pilot records real operator behavior and real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D3484-C3C2-49E9-99F3-8B91D97D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4C8AB-7431-4CE0-962C-65EDF292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2C956-A3F6-429F-8F45-6ADA622B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Self-operated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5E8F3-52F9-4929-8A56-35D50338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Run a genuine invoice, PO, delivery record, wallet, and treasury snapshot through the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12CA6-D606-4A90-94EE-C09A7AA1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605E1-72C4-4C52-B1DE-2AB53E77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8676D-67AD-4A4B-BC52-D2D80CBC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Evidence completion · decision replay · operator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AE546-E34F-4576-BF06-674FCC27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F8F05-CB01-4814-A21F-C2033B0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0FDD6-E55E-4191-95DD-3843B2AB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External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86437-1DD2-4CA5-981B-FFF27C2E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Ask 2–3 finance or crypto operators to complete the judge path and record structured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11939-B170-4537-A8DD-80257D7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E4C44-29C4-48E9-B1FE-16F5CD30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3DF16-38FD-49C7-B84D-A026B9A0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Completion rate · time-to-decision · blocked-risk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C355D-9B44-4A8D-A7A5-9A213F6B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7AE6B-495A-46BF-A438-4D113D5D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BEFORE SUBMISSION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AABE4-AC87-400D-8FFF-BDA09433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Real Arc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8B00E-E59F-4BFC-BCC9-C17AD58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Execute a capped Testnet transfer, reconcile the receipt, and publish the proof packet and demo clip.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E18D7-E8CA-4DDD-A7C8-3DBC89CF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E76F5-CFD0-461C-A7B7-68D613EC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C65F33-CA66-4F04-9E9D-B57C0BC9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status · Arc tx hash · exact Transfer match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0F5C5-8087-46BC-9321-75FC4B5F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CB705-32CB-4737-993A-FFA54320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9257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25D1B-21D2-4687-B1B1-C3E44CC1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07736-2A85-4A8D-9601-D7D03A17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57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the evidence.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Automate the 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BAE26-FE0D-421B-9E9D-B7E8FB5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A finance control plane for AI-operated businesses, built for Circle USDC on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E3717-D235-4340-B7E7-47888B79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24E3A-8565-4559-9F0D-F558A8E8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15406-0276-486A-9CEE-92916100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Multi-tenant product · deterministic controls · bounded agent runs · proof packets · stress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F4AA6-0F11-4575-B3CD-CA1E034D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NEXT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7BF33-20B6-42A1-91BC-5A1E41A5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Capped Arc Testnet USDC transfer · external operator feedback · final under-3-minute walkthrough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07EB5-B5F4-47F4-8FE2-7439ADF4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2247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TAMEION AGENTS HACKATHON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A343B-3121-4658-AC4F-79BBC023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000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Submission deadline  ·  October 10, 2026 11:59 PM 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7CD25-ED07-4C99-B785-58AC8E3E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E0399-2D3D-473B-AB7F-D604C7C8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6547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2026-09-20T00:15:45.5150000Z</dcterms:created>
  <dcterms:modified xsi:type="dcterms:W3CDTF">2026-09-20T00:15:45.5150000Z</dcterms:modified>
</coreProperties>
</file>